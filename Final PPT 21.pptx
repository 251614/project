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5" r:id="rId4"/>
  </p:sldMasterIdLst>
  <p:notesMasterIdLst>
    <p:notesMasterId r:id="rId14"/>
  </p:notesMasterIdLst>
  <p:handoutMasterIdLst>
    <p:handoutMasterId r:id="rId25"/>
  </p:handoutMasterIdLst>
  <p:sldIdLst>
    <p:sldId id="310" r:id="rId5"/>
    <p:sldId id="258" r:id="rId6"/>
    <p:sldId id="259" r:id="rId7"/>
    <p:sldId id="284" r:id="rId8"/>
    <p:sldId id="263" r:id="rId9"/>
    <p:sldId id="264" r:id="rId10"/>
    <p:sldId id="317" r:id="rId11"/>
    <p:sldId id="301" r:id="rId12"/>
    <p:sldId id="267" r:id="rId13"/>
    <p:sldId id="319" r:id="rId15"/>
    <p:sldId id="306" r:id="rId16"/>
    <p:sldId id="303" r:id="rId17"/>
    <p:sldId id="311" r:id="rId18"/>
    <p:sldId id="309" r:id="rId19"/>
    <p:sldId id="312" r:id="rId20"/>
    <p:sldId id="305" r:id="rId21"/>
    <p:sldId id="304" r:id="rId22"/>
    <p:sldId id="290" r:id="rId23"/>
    <p:sldId id="291" r:id="rId24"/>
  </p:sldIdLst>
  <p:sldSz cx="9144000" cy="6858000" type="screen4x3"/>
  <p:notesSz cx="6735445" cy="986599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99"/>
    <a:srgbClr val="006600"/>
    <a:srgbClr val="000099"/>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67" autoAdjust="0"/>
    <p:restoredTop sz="94660"/>
  </p:normalViewPr>
  <p:slideViewPr>
    <p:cSldViewPr showGuides="1">
      <p:cViewPr varScale="1">
        <p:scale>
          <a:sx n="82" d="100"/>
          <a:sy n="82" d="100"/>
        </p:scale>
        <p:origin x="1358" y="62"/>
      </p:cViewPr>
      <p:guideLst>
        <p:guide orient="horz" pos="217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notesMaster" Target="notesMasters/notesMaster1.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104878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F5AADF60-20FE-4712-992F-EDBC35225153}" type="datetimeFigureOut">
              <a:rPr lang="en-US"/>
            </a:fld>
            <a:endParaRPr lang="en-US"/>
          </a:p>
        </p:txBody>
      </p:sp>
      <p:sp>
        <p:nvSpPr>
          <p:cNvPr id="104878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lang="en-US"/>
          </a:p>
        </p:txBody>
      </p:sp>
      <p:sp>
        <p:nvSpPr>
          <p:cNvPr id="1048785" name="Slide Number Placeholder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2DC958E4-7DA1-4DBD-BD9E-EF79AF32806B}" type="slidenum">
              <a:rPr lang="en-US"/>
            </a:fld>
            <a:endParaRPr 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5-01-09T09:16:15"/>
    </inkml:context>
    <inkml:brush xml:id="br0">
      <inkml:brushProperty name="width" value="0.05" units="cm"/>
      <inkml:brushProperty name="height" value="0.3" units="cm"/>
      <inkml:brushProperty name="color" value="#849398"/>
    </inkml:brush>
  </inkml:definitions>
  <inkml:trace contextRef="#ctx0" brushRef="#br0">1.000 0.000,'0.000'0.000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6"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GB"/>
          </a:p>
        </p:txBody>
      </p:sp>
      <p:sp>
        <p:nvSpPr>
          <p:cNvPr id="1048777"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B61C34E8-AF3A-4395-ACCB-850F986824EC}" type="datetimeFigureOut">
              <a:rPr lang="en-GB" smtClean="0"/>
            </a:fld>
            <a:endParaRPr lang="en-GB"/>
          </a:p>
        </p:txBody>
      </p:sp>
      <p:sp>
        <p:nvSpPr>
          <p:cNvPr id="1048778" name="Slide Image Placeholder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1440" tIns="45720" rIns="91440" bIns="45720" rtlCol="0" anchor="ctr"/>
          <a:lstStyle/>
          <a:p>
            <a:endParaRPr lang="en-GB"/>
          </a:p>
        </p:txBody>
      </p:sp>
      <p:sp>
        <p:nvSpPr>
          <p:cNvPr id="1048779" name="Notes Placeholder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048780" name="Footer Placeholder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lang="en-GB"/>
          </a:p>
        </p:txBody>
      </p:sp>
      <p:sp>
        <p:nvSpPr>
          <p:cNvPr id="1048781" name="Slide Number Placeholder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3B56E55A-5FF4-4388-AEA5-A9C78B46A1FD}"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Slide Image Placeholder 1"/>
          <p:cNvSpPr>
            <a:spLocks noGrp="1" noRot="1" noChangeAspect="1" noTextEdit="1"/>
          </p:cNvSpPr>
          <p:nvPr>
            <p:ph type="sldImg"/>
          </p:nvPr>
        </p:nvSpPr>
        <p:spPr bwMode="auto">
          <a:noFill/>
          <a:ln>
            <a:solidFill>
              <a:srgbClr val="000000"/>
            </a:solidFill>
            <a:miter lim="800000"/>
          </a:ln>
        </p:spPr>
      </p:sp>
      <p:sp>
        <p:nvSpPr>
          <p:cNvPr id="1048604"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605" name="Slide Number Placeholder 4"/>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fld>
            <a:endParaRPr lang="en-US">
              <a:solidFill>
                <a:prstClr val="black"/>
              </a:solidFill>
            </a:endParaRPr>
          </a:p>
        </p:txBody>
      </p:sp>
      <p:sp>
        <p:nvSpPr>
          <p:cNvPr id="1048606" name="Footer Placeholder 5"/>
          <p:cNvSpPr>
            <a:spLocks noGrp="1"/>
          </p:cNvSpPr>
          <p:nvPr>
            <p:ph type="ftr" sz="quarter" idx="10"/>
          </p:nvPr>
        </p:nvSpPr>
        <p:spPr/>
        <p:txBody>
          <a:bodyPr/>
          <a:lstStyle/>
          <a:p>
            <a:endParaRPr lang="en-IN">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noTextEdit="1"/>
          </p:cNvSpPr>
          <p:nvPr>
            <p:ph type="sldImg"/>
          </p:nvPr>
        </p:nvSpPr>
        <p:spPr bwMode="auto">
          <a:noFill/>
          <a:ln>
            <a:solidFill>
              <a:srgbClr val="000000"/>
            </a:solidFill>
            <a:miter lim="800000"/>
          </a:ln>
        </p:spPr>
      </p:sp>
      <p:sp>
        <p:nvSpPr>
          <p:cNvPr id="104859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594" name="Slide Number Placeholder 4"/>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fld>
            <a:endParaRPr lang="en-US">
              <a:solidFill>
                <a:prstClr val="black"/>
              </a:solidFill>
            </a:endParaRPr>
          </a:p>
        </p:txBody>
      </p:sp>
      <p:sp>
        <p:nvSpPr>
          <p:cNvPr id="1048595" name="Footer Placeholder 5"/>
          <p:cNvSpPr>
            <a:spLocks noGrp="1"/>
          </p:cNvSpPr>
          <p:nvPr>
            <p:ph type="ftr" sz="quarter" idx="10"/>
          </p:nvPr>
        </p:nvSpPr>
        <p:spPr/>
        <p:txBody>
          <a:bodyPr/>
          <a:lstStyle/>
          <a:p>
            <a:endParaRPr lang="en-IN">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5" name="Title 1"/>
          <p:cNvSpPr>
            <a:spLocks noGrp="1"/>
          </p:cNvSpPr>
          <p:nvPr>
            <p:ph type="ctrTitle"/>
          </p:nvPr>
        </p:nvSpPr>
        <p:spPr>
          <a:xfrm>
            <a:off x="685800" y="2130431"/>
            <a:ext cx="7772400" cy="1470025"/>
          </a:xfrm>
        </p:spPr>
        <p:txBody>
          <a:bodyPr/>
          <a:lstStyle/>
          <a:p>
            <a:r>
              <a:rPr lang="en-US"/>
              <a:t>Click to edit Master title style</a:t>
            </a:r>
            <a:endParaRPr lang="en-US"/>
          </a:p>
        </p:txBody>
      </p:sp>
      <p:sp>
        <p:nvSpPr>
          <p:cNvPr id="104861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1048617" name="Date Placeholder 3"/>
          <p:cNvSpPr>
            <a:spLocks noGrp="1"/>
          </p:cNvSpPr>
          <p:nvPr>
            <p:ph type="dt" sz="half" idx="10"/>
          </p:nvPr>
        </p:nvSpPr>
        <p:spPr/>
        <p:txBody>
          <a:bodyPr/>
          <a:lstStyle/>
          <a:p>
            <a:fld id="{E5049658-1B32-471B-BF08-B398628EF583}" type="datetimeFigureOut">
              <a:rPr lang="en-US"/>
            </a:fld>
            <a:endParaRPr lang="en-US"/>
          </a:p>
        </p:txBody>
      </p:sp>
      <p:sp>
        <p:nvSpPr>
          <p:cNvPr id="1048618" name="Footer Placeholder 4"/>
          <p:cNvSpPr>
            <a:spLocks noGrp="1"/>
          </p:cNvSpPr>
          <p:nvPr>
            <p:ph type="ftr" sz="quarter" idx="11"/>
          </p:nvPr>
        </p:nvSpPr>
        <p:spPr/>
        <p:txBody>
          <a:bodyPr/>
          <a:lstStyle/>
          <a:p>
            <a:endParaRPr lang="en-US"/>
          </a:p>
        </p:txBody>
      </p:sp>
      <p:sp>
        <p:nvSpPr>
          <p:cNvPr id="1048619" name="Slide Number Placeholder 5"/>
          <p:cNvSpPr>
            <a:spLocks noGrp="1"/>
          </p:cNvSpPr>
          <p:nvPr>
            <p:ph type="sldNum" sz="quarter" idx="12"/>
          </p:nvPr>
        </p:nvSpPr>
        <p:spPr/>
        <p:txBody>
          <a:bodyPr/>
          <a:lstStyle/>
          <a:p>
            <a:fld id="{A6C698EB-6D6A-44E3-AD2E-820EDD660B89}"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US"/>
          </a:p>
        </p:txBody>
      </p:sp>
      <p:sp>
        <p:nvSpPr>
          <p:cNvPr id="1048582"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83" name="Date Placeholder 3"/>
          <p:cNvSpPr>
            <a:spLocks noGrp="1"/>
          </p:cNvSpPr>
          <p:nvPr>
            <p:ph type="dt" sz="half" idx="10"/>
          </p:nvPr>
        </p:nvSpPr>
        <p:spPr/>
        <p:txBody>
          <a:bodyPr/>
          <a:lstStyle/>
          <a:p>
            <a:fld id="{BB487F52-83E9-40DA-BAC6-8264382B3B98}" type="datetimeFigureOut">
              <a:rPr lang="en-US"/>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ACE0FC3-80A5-4E6A-8463-A948B12D76EE}"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14"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endParaRPr lang="en-US"/>
          </a:p>
        </p:txBody>
      </p:sp>
      <p:sp>
        <p:nvSpPr>
          <p:cNvPr id="1048715"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1048716" name="Date Placeholder 3"/>
          <p:cNvSpPr>
            <a:spLocks noGrp="1"/>
          </p:cNvSpPr>
          <p:nvPr>
            <p:ph type="dt" sz="half" idx="10"/>
          </p:nvPr>
        </p:nvSpPr>
        <p:spPr/>
        <p:txBody>
          <a:bodyPr/>
          <a:lstStyle/>
          <a:p>
            <a:fld id="{E146B83F-0586-4666-9DEB-0641AD91F7DE}" type="datetimeFigureOut">
              <a:rPr lang="en-US"/>
            </a:fld>
            <a:endParaRPr lang="en-US"/>
          </a:p>
        </p:txBody>
      </p:sp>
      <p:sp>
        <p:nvSpPr>
          <p:cNvPr id="1048717" name="Footer Placeholder 4"/>
          <p:cNvSpPr>
            <a:spLocks noGrp="1"/>
          </p:cNvSpPr>
          <p:nvPr>
            <p:ph type="ftr" sz="quarter" idx="11"/>
          </p:nvPr>
        </p:nvSpPr>
        <p:spPr/>
        <p:txBody>
          <a:bodyPr/>
          <a:lstStyle/>
          <a:p>
            <a:endParaRPr lang="en-US"/>
          </a:p>
        </p:txBody>
      </p:sp>
      <p:sp>
        <p:nvSpPr>
          <p:cNvPr id="1048718" name="Slide Number Placeholder 5"/>
          <p:cNvSpPr>
            <a:spLocks noGrp="1"/>
          </p:cNvSpPr>
          <p:nvPr>
            <p:ph type="sldNum" sz="quarter" idx="12"/>
          </p:nvPr>
        </p:nvSpPr>
        <p:spPr/>
        <p:txBody>
          <a:bodyPr/>
          <a:lstStyle/>
          <a:p>
            <a:fld id="{04671A20-A21B-4CC2-AC43-DD78D41E256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endParaRPr lang="en-US"/>
          </a:p>
        </p:txBody>
      </p:sp>
      <p:sp>
        <p:nvSpPr>
          <p:cNvPr id="1048687"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8"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9" name="Date Placeholder 3"/>
          <p:cNvSpPr>
            <a:spLocks noGrp="1"/>
          </p:cNvSpPr>
          <p:nvPr>
            <p:ph type="dt" sz="half" idx="10"/>
          </p:nvPr>
        </p:nvSpPr>
        <p:spPr/>
        <p:txBody>
          <a:bodyPr/>
          <a:lstStyle/>
          <a:p>
            <a:fld id="{647B3122-F98F-4BFE-9F85-1074B05743EE}" type="datetimeFigureOut">
              <a:rPr lang="en-US"/>
            </a:fld>
            <a:endParaRPr lang="en-US"/>
          </a:p>
        </p:txBody>
      </p:sp>
      <p:sp>
        <p:nvSpPr>
          <p:cNvPr id="1048690" name="Footer Placeholder 4"/>
          <p:cNvSpPr>
            <a:spLocks noGrp="1"/>
          </p:cNvSpPr>
          <p:nvPr>
            <p:ph type="ftr" sz="quarter" idx="11"/>
          </p:nvPr>
        </p:nvSpPr>
        <p:spPr/>
        <p:txBody>
          <a:bodyPr/>
          <a:lstStyle/>
          <a:p>
            <a:endParaRPr lang="en-US"/>
          </a:p>
        </p:txBody>
      </p:sp>
      <p:sp>
        <p:nvSpPr>
          <p:cNvPr id="1048691" name="Slide Number Placeholder 5"/>
          <p:cNvSpPr>
            <a:spLocks noGrp="1"/>
          </p:cNvSpPr>
          <p:nvPr>
            <p:ph type="sldNum" sz="quarter" idx="12"/>
          </p:nvPr>
        </p:nvSpPr>
        <p:spPr/>
        <p:txBody>
          <a:bodyPr/>
          <a:lstStyle/>
          <a:p>
            <a:fld id="{4B2F1653-7A10-4BED-8EBE-29AD2F2289EE}"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2" name="Title 1"/>
          <p:cNvSpPr>
            <a:spLocks noGrp="1"/>
          </p:cNvSpPr>
          <p:nvPr>
            <p:ph type="title"/>
          </p:nvPr>
        </p:nvSpPr>
        <p:spPr/>
        <p:txBody>
          <a:bodyPr/>
          <a:lstStyle/>
          <a:p>
            <a:r>
              <a:rPr lang="en-US"/>
              <a:t>Click to edit Master title style</a:t>
            </a:r>
            <a:endParaRPr lang="en-US"/>
          </a:p>
        </p:txBody>
      </p:sp>
      <p:sp>
        <p:nvSpPr>
          <p:cNvPr id="104869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9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9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7" name="Date Placeholder 3"/>
          <p:cNvSpPr>
            <a:spLocks noGrp="1"/>
          </p:cNvSpPr>
          <p:nvPr>
            <p:ph type="dt" sz="half" idx="10"/>
          </p:nvPr>
        </p:nvSpPr>
        <p:spPr/>
        <p:txBody>
          <a:bodyPr/>
          <a:lstStyle/>
          <a:p>
            <a:fld id="{96B555E5-4663-408A-987B-5A867A85184F}" type="datetimeFigureOut">
              <a:rPr lang="en-US"/>
            </a:fld>
            <a:endParaRPr lang="en-US"/>
          </a:p>
        </p:txBody>
      </p:sp>
      <p:sp>
        <p:nvSpPr>
          <p:cNvPr id="1048698" name="Footer Placeholder 4"/>
          <p:cNvSpPr>
            <a:spLocks noGrp="1"/>
          </p:cNvSpPr>
          <p:nvPr>
            <p:ph type="ftr" sz="quarter" idx="11"/>
          </p:nvPr>
        </p:nvSpPr>
        <p:spPr/>
        <p:txBody>
          <a:bodyPr/>
          <a:lstStyle/>
          <a:p>
            <a:endParaRPr lang="en-US"/>
          </a:p>
        </p:txBody>
      </p:sp>
      <p:sp>
        <p:nvSpPr>
          <p:cNvPr id="1048699" name="Slide Number Placeholder 5"/>
          <p:cNvSpPr>
            <a:spLocks noGrp="1"/>
          </p:cNvSpPr>
          <p:nvPr>
            <p:ph type="sldNum" sz="quarter" idx="12"/>
          </p:nvPr>
        </p:nvSpPr>
        <p:spPr/>
        <p:txBody>
          <a:bodyPr/>
          <a:lstStyle/>
          <a:p>
            <a:fld id="{6AA07655-5EE6-4BE7-B31B-9247DF07A360}"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r>
              <a:rPr lang="en-US"/>
              <a:t>Click to edit Master title style</a:t>
            </a:r>
            <a:endParaRPr lang="en-US"/>
          </a:p>
        </p:txBody>
      </p:sp>
      <p:sp>
        <p:nvSpPr>
          <p:cNvPr id="1048597" name="Date Placeholder 3"/>
          <p:cNvSpPr>
            <a:spLocks noGrp="1"/>
          </p:cNvSpPr>
          <p:nvPr>
            <p:ph type="dt" sz="half" idx="10"/>
          </p:nvPr>
        </p:nvSpPr>
        <p:spPr/>
        <p:txBody>
          <a:bodyPr/>
          <a:lstStyle/>
          <a:p>
            <a:fld id="{95CD851B-B327-4442-A595-DC3F1CF0D661}" type="datetimeFigureOut">
              <a:rPr lang="en-US"/>
            </a:fld>
            <a:endParaRPr lang="en-US"/>
          </a:p>
        </p:txBody>
      </p:sp>
      <p:sp>
        <p:nvSpPr>
          <p:cNvPr id="1048598" name="Footer Placeholder 4"/>
          <p:cNvSpPr>
            <a:spLocks noGrp="1"/>
          </p:cNvSpPr>
          <p:nvPr>
            <p:ph type="ftr" sz="quarter" idx="11"/>
          </p:nvPr>
        </p:nvSpPr>
        <p:spPr/>
        <p:txBody>
          <a:bodyPr/>
          <a:lstStyle/>
          <a:p>
            <a:endParaRPr lang="en-US"/>
          </a:p>
        </p:txBody>
      </p:sp>
      <p:sp>
        <p:nvSpPr>
          <p:cNvPr id="1048599" name="Slide Number Placeholder 5"/>
          <p:cNvSpPr>
            <a:spLocks noGrp="1"/>
          </p:cNvSpPr>
          <p:nvPr>
            <p:ph type="sldNum" sz="quarter" idx="12"/>
          </p:nvPr>
        </p:nvSpPr>
        <p:spPr/>
        <p:txBody>
          <a:bodyPr/>
          <a:lstStyle/>
          <a:p>
            <a:fld id="{F45759B4-0D9D-4AB1-8469-2C9B4A5E591C}"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5" name="Date Placeholder 3"/>
          <p:cNvSpPr>
            <a:spLocks noGrp="1"/>
          </p:cNvSpPr>
          <p:nvPr>
            <p:ph type="dt" sz="half" idx="10"/>
          </p:nvPr>
        </p:nvSpPr>
        <p:spPr/>
        <p:txBody>
          <a:bodyPr/>
          <a:lstStyle/>
          <a:p>
            <a:fld id="{55DEA563-AD19-4581-A8EF-63BA5981AA7F}" type="datetimeFigureOut">
              <a:rPr lang="en-US"/>
            </a:fld>
            <a:endParaRPr lang="en-US"/>
          </a:p>
        </p:txBody>
      </p:sp>
      <p:sp>
        <p:nvSpPr>
          <p:cNvPr id="1048706" name="Footer Placeholder 4"/>
          <p:cNvSpPr>
            <a:spLocks noGrp="1"/>
          </p:cNvSpPr>
          <p:nvPr>
            <p:ph type="ftr" sz="quarter" idx="11"/>
          </p:nvPr>
        </p:nvSpPr>
        <p:spPr/>
        <p:txBody>
          <a:bodyPr/>
          <a:lstStyle/>
          <a:p>
            <a:endParaRPr lang="en-US"/>
          </a:p>
        </p:txBody>
      </p:sp>
      <p:sp>
        <p:nvSpPr>
          <p:cNvPr id="1048707" name="Slide Number Placeholder 5"/>
          <p:cNvSpPr>
            <a:spLocks noGrp="1"/>
          </p:cNvSpPr>
          <p:nvPr>
            <p:ph type="sldNum" sz="quarter" idx="12"/>
          </p:nvPr>
        </p:nvSpPr>
        <p:spPr/>
        <p:txBody>
          <a:bodyPr/>
          <a:lstStyle/>
          <a:p>
            <a:fld id="{5542BD70-19C0-4656-B288-AC71113C2F8D}"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4"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endParaRPr lang="en-US"/>
          </a:p>
        </p:txBody>
      </p:sp>
      <p:sp>
        <p:nvSpPr>
          <p:cNvPr id="1048725"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26"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27" name="Date Placeholder 3"/>
          <p:cNvSpPr>
            <a:spLocks noGrp="1"/>
          </p:cNvSpPr>
          <p:nvPr>
            <p:ph type="dt" sz="half" idx="10"/>
          </p:nvPr>
        </p:nvSpPr>
        <p:spPr/>
        <p:txBody>
          <a:bodyPr/>
          <a:lstStyle/>
          <a:p>
            <a:fld id="{AEF4AF67-9202-49C0-9499-80248B40DB4A}" type="datetimeFigureOut">
              <a:rPr lang="en-US"/>
            </a:fld>
            <a:endParaRPr lang="en-US"/>
          </a:p>
        </p:txBody>
      </p:sp>
      <p:sp>
        <p:nvSpPr>
          <p:cNvPr id="1048728" name="Footer Placeholder 4"/>
          <p:cNvSpPr>
            <a:spLocks noGrp="1"/>
          </p:cNvSpPr>
          <p:nvPr>
            <p:ph type="ftr" sz="quarter" idx="11"/>
          </p:nvPr>
        </p:nvSpPr>
        <p:spPr/>
        <p:txBody>
          <a:bodyPr/>
          <a:lstStyle/>
          <a:p>
            <a:endParaRPr lang="en-US"/>
          </a:p>
        </p:txBody>
      </p:sp>
      <p:sp>
        <p:nvSpPr>
          <p:cNvPr id="1048729" name="Slide Number Placeholder 5"/>
          <p:cNvSpPr>
            <a:spLocks noGrp="1"/>
          </p:cNvSpPr>
          <p:nvPr>
            <p:ph type="sldNum" sz="quarter" idx="12"/>
          </p:nvPr>
        </p:nvSpPr>
        <p:spPr/>
        <p:txBody>
          <a:bodyPr/>
          <a:lstStyle/>
          <a:p>
            <a:fld id="{44F0EEF3-D022-4866-ABC3-5FCCD7DC51FA}"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08"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endParaRPr lang="en-US"/>
          </a:p>
        </p:txBody>
      </p:sp>
      <p:sp>
        <p:nvSpPr>
          <p:cNvPr id="1048709"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10"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11" name="Date Placeholder 3"/>
          <p:cNvSpPr>
            <a:spLocks noGrp="1"/>
          </p:cNvSpPr>
          <p:nvPr>
            <p:ph type="dt" sz="half" idx="10"/>
          </p:nvPr>
        </p:nvSpPr>
        <p:spPr/>
        <p:txBody>
          <a:bodyPr/>
          <a:lstStyle/>
          <a:p>
            <a:fld id="{BE918AAA-8687-41FE-BF13-707437BC5E1E}" type="datetimeFigureOut">
              <a:rPr lang="en-US"/>
            </a:fld>
            <a:endParaRPr lang="en-US"/>
          </a:p>
        </p:txBody>
      </p:sp>
      <p:sp>
        <p:nvSpPr>
          <p:cNvPr id="1048712" name="Footer Placeholder 4"/>
          <p:cNvSpPr>
            <a:spLocks noGrp="1"/>
          </p:cNvSpPr>
          <p:nvPr>
            <p:ph type="ftr" sz="quarter" idx="11"/>
          </p:nvPr>
        </p:nvSpPr>
        <p:spPr/>
        <p:txBody>
          <a:bodyPr/>
          <a:lstStyle/>
          <a:p>
            <a:endParaRPr lang="en-US"/>
          </a:p>
        </p:txBody>
      </p:sp>
      <p:sp>
        <p:nvSpPr>
          <p:cNvPr id="1048713" name="Slide Number Placeholder 5"/>
          <p:cNvSpPr>
            <a:spLocks noGrp="1"/>
          </p:cNvSpPr>
          <p:nvPr>
            <p:ph type="sldNum" sz="quarter" idx="12"/>
          </p:nvPr>
        </p:nvSpPr>
        <p:spPr/>
        <p:txBody>
          <a:bodyPr/>
          <a:lstStyle/>
          <a:p>
            <a:fld id="{310BD9D6-140E-43CA-B11F-D41B7FC5D41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9" name="Title 1"/>
          <p:cNvSpPr>
            <a:spLocks noGrp="1"/>
          </p:cNvSpPr>
          <p:nvPr>
            <p:ph type="title"/>
          </p:nvPr>
        </p:nvSpPr>
        <p:spPr/>
        <p:txBody>
          <a:bodyPr/>
          <a:lstStyle/>
          <a:p>
            <a:r>
              <a:rPr lang="en-US"/>
              <a:t>Click to edit Master title style</a:t>
            </a:r>
            <a:endParaRPr lang="en-US"/>
          </a:p>
        </p:txBody>
      </p:sp>
      <p:sp>
        <p:nvSpPr>
          <p:cNvPr id="1048720"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21" name="Date Placeholder 3"/>
          <p:cNvSpPr>
            <a:spLocks noGrp="1"/>
          </p:cNvSpPr>
          <p:nvPr>
            <p:ph type="dt" sz="half" idx="10"/>
          </p:nvPr>
        </p:nvSpPr>
        <p:spPr/>
        <p:txBody>
          <a:bodyPr/>
          <a:lstStyle/>
          <a:p>
            <a:fld id="{78B03597-99BF-4D07-AF0D-92BAB1D51340}" type="datetimeFigureOut">
              <a:rPr lang="en-US"/>
            </a:fld>
            <a:endParaRPr lang="en-US"/>
          </a:p>
        </p:txBody>
      </p:sp>
      <p:sp>
        <p:nvSpPr>
          <p:cNvPr id="1048722" name="Footer Placeholder 4"/>
          <p:cNvSpPr>
            <a:spLocks noGrp="1"/>
          </p:cNvSpPr>
          <p:nvPr>
            <p:ph type="ftr" sz="quarter" idx="11"/>
          </p:nvPr>
        </p:nvSpPr>
        <p:spPr/>
        <p:txBody>
          <a:bodyPr/>
          <a:lstStyle/>
          <a:p>
            <a:endParaRPr lang="en-US"/>
          </a:p>
        </p:txBody>
      </p:sp>
      <p:sp>
        <p:nvSpPr>
          <p:cNvPr id="1048723" name="Slide Number Placeholder 5"/>
          <p:cNvSpPr>
            <a:spLocks noGrp="1"/>
          </p:cNvSpPr>
          <p:nvPr>
            <p:ph type="sldNum" sz="quarter" idx="12"/>
          </p:nvPr>
        </p:nvSpPr>
        <p:spPr/>
        <p:txBody>
          <a:bodyPr/>
          <a:lstStyle/>
          <a:p>
            <a:fld id="{AF1ACDDE-A4D3-4E0B-A570-A78689AE3E35}"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0"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US"/>
          </a:p>
        </p:txBody>
      </p:sp>
      <p:sp>
        <p:nvSpPr>
          <p:cNvPr id="1048701"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2" name="Date Placeholder 3"/>
          <p:cNvSpPr>
            <a:spLocks noGrp="1"/>
          </p:cNvSpPr>
          <p:nvPr>
            <p:ph type="dt" sz="half" idx="10"/>
          </p:nvPr>
        </p:nvSpPr>
        <p:spPr/>
        <p:txBody>
          <a:bodyPr/>
          <a:lstStyle/>
          <a:p>
            <a:fld id="{D45B56C9-71B5-404C-B5A2-B45F21E75A32}" type="datetimeFigureOut">
              <a:rPr lang="en-US"/>
            </a:fld>
            <a:endParaRPr lang="en-US"/>
          </a:p>
        </p:txBody>
      </p:sp>
      <p:sp>
        <p:nvSpPr>
          <p:cNvPr id="1048703" name="Footer Placeholder 4"/>
          <p:cNvSpPr>
            <a:spLocks noGrp="1"/>
          </p:cNvSpPr>
          <p:nvPr>
            <p:ph type="ftr" sz="quarter" idx="11"/>
          </p:nvPr>
        </p:nvSpPr>
        <p:spPr/>
        <p:txBody>
          <a:bodyPr/>
          <a:lstStyle/>
          <a:p>
            <a:endParaRPr lang="en-US"/>
          </a:p>
        </p:txBody>
      </p:sp>
      <p:sp>
        <p:nvSpPr>
          <p:cNvPr id="1048704" name="Slide Number Placeholder 5"/>
          <p:cNvSpPr>
            <a:spLocks noGrp="1"/>
          </p:cNvSpPr>
          <p:nvPr>
            <p:ph type="sldNum" sz="quarter" idx="12"/>
          </p:nvPr>
        </p:nvSpPr>
        <p:spPr/>
        <p:txBody>
          <a:bodyPr/>
          <a:lstStyle/>
          <a:p>
            <a:fld id="{BCB308AD-B6DB-4B82-B1F7-9450F5460026}"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CEEEAB8-7E17-497A-821C-77337C4DAA47}"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B1DD4D-63F8-4EC7-B693-F1F85E5B1C0E}"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1048753"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1048754" name="Rectangle 32"/>
          <p:cNvSpPr>
            <a:spLocks noGrp="1" noChangeArrowheads="1"/>
          </p:cNvSpPr>
          <p:nvPr>
            <p:ph type="sldNum" sz="quarter" idx="10"/>
          </p:nvPr>
        </p:nvSpPr>
        <p:spPr/>
        <p:txBody>
          <a:bodyPr/>
          <a:lstStyle/>
          <a:p>
            <a:fld id="{F33682F6-07BE-4D8D-A30B-784368EB4D18}"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2" name="Title 1"/>
          <p:cNvSpPr>
            <a:spLocks noGrp="1"/>
          </p:cNvSpPr>
          <p:nvPr>
            <p:ph type="title"/>
          </p:nvPr>
        </p:nvSpPr>
        <p:spPr/>
        <p:txBody>
          <a:bodyPr/>
          <a:lstStyle/>
          <a:p>
            <a:r>
              <a:rPr lang="en-US"/>
              <a:t>Click to edit Master title style</a:t>
            </a:r>
            <a:endParaRPr lang="en-US"/>
          </a:p>
        </p:txBody>
      </p:sp>
      <p:sp>
        <p:nvSpPr>
          <p:cNvPr id="104876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64" name="Rectangle 32"/>
          <p:cNvSpPr>
            <a:spLocks noGrp="1" noChangeArrowheads="1"/>
          </p:cNvSpPr>
          <p:nvPr>
            <p:ph type="sldNum" sz="quarter" idx="10"/>
          </p:nvPr>
        </p:nvSpPr>
        <p:spPr/>
        <p:txBody>
          <a:bodyPr/>
          <a:lstStyle/>
          <a:p>
            <a:fld id="{15A104C0-9CA3-40E4-B708-2BE1DD18AAA2}"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104877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1048772" name="Rectangle 32"/>
          <p:cNvSpPr>
            <a:spLocks noGrp="1" noChangeArrowheads="1"/>
          </p:cNvSpPr>
          <p:nvPr>
            <p:ph type="sldNum" sz="quarter" idx="10"/>
          </p:nvPr>
        </p:nvSpPr>
        <p:spPr/>
        <p:txBody>
          <a:bodyPr/>
          <a:lstStyle/>
          <a:p>
            <a:fld id="{C69354AA-FA39-4F23-8A68-66C7B7405C24}"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endParaRPr lang="en-US"/>
          </a:p>
        </p:txBody>
      </p:sp>
      <p:sp>
        <p:nvSpPr>
          <p:cNvPr id="1048735" name="Content Placeholder 2"/>
          <p:cNvSpPr>
            <a:spLocks noGrp="1"/>
          </p:cNvSpPr>
          <p:nvPr>
            <p:ph sz="half" idx="1"/>
          </p:nvPr>
        </p:nvSpPr>
        <p:spPr>
          <a:xfrm>
            <a:off x="942975" y="2357438"/>
            <a:ext cx="3868738"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6" name="Content Placeholder 3"/>
          <p:cNvSpPr>
            <a:spLocks noGrp="1"/>
          </p:cNvSpPr>
          <p:nvPr>
            <p:ph sz="half" idx="2"/>
          </p:nvPr>
        </p:nvSpPr>
        <p:spPr>
          <a:xfrm>
            <a:off x="4964113" y="2357438"/>
            <a:ext cx="3868737"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7" name="Rectangle 32"/>
          <p:cNvSpPr>
            <a:spLocks noGrp="1" noChangeArrowheads="1"/>
          </p:cNvSpPr>
          <p:nvPr>
            <p:ph type="sldNum" sz="quarter" idx="10"/>
          </p:nvPr>
        </p:nvSpPr>
        <p:spPr/>
        <p:txBody>
          <a:bodyPr/>
          <a:lstStyle/>
          <a:p>
            <a:fld id="{B3533401-8ED0-4476-AD34-E93D5331DAAE}"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46" name="Title 1"/>
          <p:cNvSpPr>
            <a:spLocks noGrp="1"/>
          </p:cNvSpPr>
          <p:nvPr>
            <p:ph type="title"/>
          </p:nvPr>
        </p:nvSpPr>
        <p:spPr>
          <a:xfrm>
            <a:off x="457200" y="274638"/>
            <a:ext cx="8229600" cy="1143000"/>
          </a:xfrm>
        </p:spPr>
        <p:txBody>
          <a:bodyPr/>
          <a:lstStyle/>
          <a:p>
            <a:r>
              <a:rPr lang="en-US"/>
              <a:t>Click to edit Master title style</a:t>
            </a:r>
            <a:endParaRPr lang="en-US"/>
          </a:p>
        </p:txBody>
      </p:sp>
      <p:sp>
        <p:nvSpPr>
          <p:cNvPr id="1048747"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74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9"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75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1" name="Rectangle 32"/>
          <p:cNvSpPr>
            <a:spLocks noGrp="1" noChangeArrowheads="1"/>
          </p:cNvSpPr>
          <p:nvPr>
            <p:ph type="sldNum" sz="quarter" idx="10"/>
          </p:nvPr>
        </p:nvSpPr>
        <p:spPr/>
        <p:txBody>
          <a:bodyPr/>
          <a:lstStyle/>
          <a:p>
            <a:fld id="{505ED405-018E-4712-B102-67532C03A436}"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44" name="Title 1"/>
          <p:cNvSpPr>
            <a:spLocks noGrp="1"/>
          </p:cNvSpPr>
          <p:nvPr>
            <p:ph type="title"/>
          </p:nvPr>
        </p:nvSpPr>
        <p:spPr/>
        <p:txBody>
          <a:bodyPr/>
          <a:lstStyle/>
          <a:p>
            <a:r>
              <a:rPr lang="en-US"/>
              <a:t>Click to edit Master title style</a:t>
            </a:r>
            <a:endParaRPr lang="en-US"/>
          </a:p>
        </p:txBody>
      </p:sp>
      <p:sp>
        <p:nvSpPr>
          <p:cNvPr id="1048745" name="Rectangle 32"/>
          <p:cNvSpPr>
            <a:spLocks noGrp="1" noChangeArrowheads="1"/>
          </p:cNvSpPr>
          <p:nvPr>
            <p:ph type="sldNum" sz="quarter" idx="10"/>
          </p:nvPr>
        </p:nvSpPr>
        <p:spPr/>
        <p:txBody>
          <a:bodyPr/>
          <a:lstStyle/>
          <a:p>
            <a:fld id="{C76DFAFD-39DE-4C09-957F-770444AD2EE7}"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5" name="Rectangle 32"/>
          <p:cNvSpPr>
            <a:spLocks noGrp="1" noChangeArrowheads="1"/>
          </p:cNvSpPr>
          <p:nvPr>
            <p:ph type="sldNum" sz="quarter" idx="10"/>
          </p:nvPr>
        </p:nvSpPr>
        <p:spPr/>
        <p:txBody>
          <a:bodyPr/>
          <a:lstStyle/>
          <a:p>
            <a:fld id="{D4BA5899-D4CA-40AF-A003-DA39DB7FA9F0}"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10487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43" name="Rectangle 32"/>
          <p:cNvSpPr>
            <a:spLocks noGrp="1" noChangeArrowheads="1"/>
          </p:cNvSpPr>
          <p:nvPr>
            <p:ph type="sldNum" sz="quarter" idx="10"/>
          </p:nvPr>
        </p:nvSpPr>
        <p:spPr/>
        <p:txBody>
          <a:bodyPr/>
          <a:lstStyle/>
          <a:p>
            <a:fld id="{C61FECB9-8477-40F6-AFF1-5D508CBDA423}"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5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10487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61" name="Rectangle 32"/>
          <p:cNvSpPr>
            <a:spLocks noGrp="1" noChangeArrowheads="1"/>
          </p:cNvSpPr>
          <p:nvPr>
            <p:ph type="sldNum" sz="quarter" idx="10"/>
          </p:nvPr>
        </p:nvSpPr>
        <p:spPr/>
        <p:txBody>
          <a:bodyPr/>
          <a:lstStyle/>
          <a:p>
            <a:fld id="{92DFA289-3034-492F-9EFE-1DD35B858C92}"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endParaRPr lang="en-US"/>
          </a:p>
        </p:txBody>
      </p:sp>
      <p:sp>
        <p:nvSpPr>
          <p:cNvPr id="1048756"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7" name="Rectangle 32"/>
          <p:cNvSpPr>
            <a:spLocks noGrp="1" noChangeArrowheads="1"/>
          </p:cNvSpPr>
          <p:nvPr>
            <p:ph type="sldNum" sz="quarter" idx="10"/>
          </p:nvPr>
        </p:nvSpPr>
        <p:spPr/>
        <p:txBody>
          <a:bodyPr/>
          <a:lstStyle/>
          <a:p>
            <a:fld id="{F50018D6-4C30-4973-B171-9E35A48AD76A}"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3" name="Vertical Title 1"/>
          <p:cNvSpPr>
            <a:spLocks noGrp="1"/>
          </p:cNvSpPr>
          <p:nvPr>
            <p:ph type="title" orient="vert"/>
          </p:nvPr>
        </p:nvSpPr>
        <p:spPr>
          <a:xfrm>
            <a:off x="6859588" y="1531938"/>
            <a:ext cx="1973262" cy="4619625"/>
          </a:xfrm>
        </p:spPr>
        <p:txBody>
          <a:bodyPr vert="eaVert"/>
          <a:lstStyle/>
          <a:p>
            <a:r>
              <a:rPr lang="en-US"/>
              <a:t>Click to edit Master title style</a:t>
            </a:r>
            <a:endParaRPr lang="en-US"/>
          </a:p>
        </p:txBody>
      </p:sp>
      <p:sp>
        <p:nvSpPr>
          <p:cNvPr id="1048774" name="Vertical Text Placeholder 2"/>
          <p:cNvSpPr>
            <a:spLocks noGrp="1"/>
          </p:cNvSpPr>
          <p:nvPr>
            <p:ph type="body" orient="vert" idx="1"/>
          </p:nvPr>
        </p:nvSpPr>
        <p:spPr>
          <a:xfrm>
            <a:off x="938213" y="1531938"/>
            <a:ext cx="5768975" cy="46196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75" name="Rectangle 32"/>
          <p:cNvSpPr>
            <a:spLocks noGrp="1" noChangeArrowheads="1"/>
          </p:cNvSpPr>
          <p:nvPr>
            <p:ph type="sldNum" sz="quarter" idx="10"/>
          </p:nvPr>
        </p:nvSpPr>
        <p:spPr/>
        <p:txBody>
          <a:bodyPr/>
          <a:lstStyle/>
          <a:p>
            <a:fld id="{4C42326B-5B0C-4285-BBA0-E92437394B0D}"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1048766" name="Title 1"/>
          <p:cNvSpPr>
            <a:spLocks noGrp="1"/>
          </p:cNvSpPr>
          <p:nvPr>
            <p:ph type="title"/>
          </p:nvPr>
        </p:nvSpPr>
        <p:spPr>
          <a:xfrm>
            <a:off x="938213" y="1531938"/>
            <a:ext cx="7704137" cy="814387"/>
          </a:xfrm>
        </p:spPr>
        <p:txBody>
          <a:bodyPr/>
          <a:lstStyle/>
          <a:p>
            <a:r>
              <a:rPr lang="en-US"/>
              <a:t>Click to edit Master title style</a:t>
            </a:r>
            <a:endParaRPr lang="en-US"/>
          </a:p>
        </p:txBody>
      </p:sp>
      <p:sp>
        <p:nvSpPr>
          <p:cNvPr id="1048767" name="ClipArt Placeholder 2"/>
          <p:cNvSpPr>
            <a:spLocks noGrp="1"/>
          </p:cNvSpPr>
          <p:nvPr>
            <p:ph type="clipArt" sz="half" idx="1"/>
          </p:nvPr>
        </p:nvSpPr>
        <p:spPr>
          <a:xfrm>
            <a:off x="942975" y="2357438"/>
            <a:ext cx="3868738" cy="3794125"/>
          </a:xfrm>
        </p:spPr>
        <p:txBody>
          <a:bodyPr/>
          <a:lstStyle/>
          <a:p>
            <a:pPr lvl="0"/>
            <a:endParaRPr lang="en-US" noProof="0"/>
          </a:p>
        </p:txBody>
      </p:sp>
      <p:sp>
        <p:nvSpPr>
          <p:cNvPr id="1048768" name="Text Placeholder 3"/>
          <p:cNvSpPr>
            <a:spLocks noGrp="1"/>
          </p:cNvSpPr>
          <p:nvPr>
            <p:ph type="body" sz="half" idx="2"/>
          </p:nvPr>
        </p:nvSpPr>
        <p:spPr>
          <a:xfrm>
            <a:off x="4964113" y="2357438"/>
            <a:ext cx="3868737" cy="37941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69" name="Rectangle 32"/>
          <p:cNvSpPr>
            <a:spLocks noGrp="1" noChangeArrowheads="1"/>
          </p:cNvSpPr>
          <p:nvPr>
            <p:ph type="sldNum" sz="quarter" idx="10"/>
          </p:nvPr>
        </p:nvSpPr>
        <p:spPr/>
        <p:txBody>
          <a:bodyPr/>
          <a:lstStyle/>
          <a:p>
            <a:fld id="{3F5F2DE4-4349-44E7-81D1-047624CC0CDA}"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1048738" name="Content Placeholder 1"/>
          <p:cNvSpPr>
            <a:spLocks noGrp="1"/>
          </p:cNvSpPr>
          <p:nvPr>
            <p:ph/>
          </p:nvPr>
        </p:nvSpPr>
        <p:spPr>
          <a:xfrm>
            <a:off x="938213" y="1531938"/>
            <a:ext cx="7894637" cy="46196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9" name="Rectangle 32"/>
          <p:cNvSpPr>
            <a:spLocks noGrp="1" noChangeArrowheads="1"/>
          </p:cNvSpPr>
          <p:nvPr>
            <p:ph type="sldNum" sz="quarter" idx="10"/>
          </p:nvPr>
        </p:nvSpPr>
        <p:spPr/>
        <p:txBody>
          <a:bodyPr/>
          <a:lstStyle/>
          <a:p>
            <a:fld id="{01817231-5508-4EBA-966A-8DD77BFA0DCB}"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E5049658-1B32-471B-BF08-B398628EF583}"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C698EB-6D6A-44E3-AD2E-820EDD660B89}" type="slidenum">
              <a:rPr lang="en-US"/>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BB487F52-83E9-40DA-BAC6-8264382B3B98}"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CE0FC3-80A5-4E6A-8463-A948B12D76EE}" type="slidenum">
              <a:rPr lang="en-US"/>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E146B83F-0586-4666-9DEB-0641AD91F7DE}"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671A20-A21B-4CC2-AC43-DD78D41E2568}" type="slidenum">
              <a:rPr lang="en-US"/>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647B3122-F98F-4BFE-9F85-1074B05743EE}"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B2F1653-7A10-4BED-8EBE-29AD2F2289EE}" type="slidenum">
              <a:rPr lang="en-US"/>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96B555E5-4663-408A-987B-5A867A85184F}" type="datetimeFigureOut">
              <a:rPr lang="en-US"/>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AA07655-5EE6-4BE7-B31B-9247DF07A360}" type="slidenum">
              <a:rPr lang="en-US"/>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95CD851B-B327-4442-A595-DC3F1CF0D661}" type="datetimeFigureOut">
              <a:rPr lang="en-US"/>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F45759B4-0D9D-4AB1-8469-2C9B4A5E591C}" type="slidenum">
              <a:rPr lang="en-US"/>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5DEA563-AD19-4581-A8EF-63BA5981AA7F}" type="datetimeFigureOut">
              <a:rPr lang="en-US"/>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5542BD70-19C0-4656-B288-AC71113C2F8D}" type="slidenum">
              <a:rPr lang="en-US"/>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AEF4AF67-9202-49C0-9499-80248B40DB4A}"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F0EEF3-D022-4866-ABC3-5FCCD7DC51FA}" type="slidenum">
              <a:rPr lang="en-US"/>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BE918AAA-8687-41FE-BF13-707437BC5E1E}"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10BD9D6-140E-43CA-B11F-D41B7FC5D414}" type="slidenum">
              <a:rPr lang="en-US"/>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78B03597-99BF-4D07-AF0D-92BAB1D51340}"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F1ACDDE-A4D3-4E0B-A570-A78689AE3E35}" type="slidenum">
              <a:rPr lang="en-US"/>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D45B56C9-71B5-404C-B5A2-B45F21E75A32}"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CB308AD-B6DB-4B82-B1F7-9450F5460026}" type="slidenum">
              <a:rPr lang="en-US"/>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3.jpeg"/><Relationship Id="rId14" Type="http://schemas.openxmlformats.org/officeDocument/2006/relationships/image" Target="../media/image2.jpeg"/><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3" Type="http://schemas.openxmlformats.org/officeDocument/2006/relationships/theme" Target="../theme/theme3.xml"/><Relationship Id="rId12" Type="http://schemas.openxmlformats.org/officeDocument/2006/relationships/image" Target="../media/image1.jpeg"/><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4857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78"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fld id="{7CEEEAB8-7E17-497A-821C-77337C4DAA47}" type="datetimeFigureOut">
              <a:rPr lang="en-US"/>
            </a:fld>
            <a:endParaRPr lang="en-US"/>
          </a:p>
        </p:txBody>
      </p:sp>
      <p:sp>
        <p:nvSpPr>
          <p:cNvPr id="1048579"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endParaRPr lang="en-US"/>
          </a:p>
        </p:txBody>
      </p:sp>
      <p:sp>
        <p:nvSpPr>
          <p:cNvPr id="1048580"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fld id="{97B1DD4D-63F8-4EC7-B693-F1F85E5B1C0E}"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CC">
            <a:alpha val="0"/>
          </a:srgbClr>
        </a:solidFill>
        <a:effectLst/>
      </p:bgPr>
    </p:bg>
    <p:spTree>
      <p:nvGrpSpPr>
        <p:cNvPr id="1" name=""/>
        <p:cNvGrpSpPr/>
        <p:nvPr/>
      </p:nvGrpSpPr>
      <p:grpSpPr>
        <a:xfrm>
          <a:off x="0" y="0"/>
          <a:ext cx="0" cy="0"/>
          <a:chOff x="0" y="0"/>
          <a:chExt cx="0" cy="0"/>
        </a:xfrm>
      </p:grpSpPr>
      <p:sp>
        <p:nvSpPr>
          <p:cNvPr id="1048730" name="Rectangle 14"/>
          <p:cNvSpPr>
            <a:spLocks noGrp="1" noChangeArrowheads="1"/>
          </p:cNvSpPr>
          <p:nvPr>
            <p:ph type="body" idx="1"/>
          </p:nvPr>
        </p:nvSpPr>
        <p:spPr bwMode="auto">
          <a:xfrm>
            <a:off x="942975" y="2357438"/>
            <a:ext cx="7889875" cy="3794125"/>
          </a:xfrm>
          <a:prstGeom prst="rect">
            <a:avLst/>
          </a:prstGeom>
          <a:noFill/>
          <a:ln>
            <a:noFill/>
          </a:ln>
        </p:spPr>
        <p:txBody>
          <a:bodyPr vert="horz" wrap="square" lIns="91440" tIns="45720" rIns="91440" bIns="45720" numCol="1" anchor="t" anchorCtr="0" compatLnSpc="1"/>
          <a:lstStyle/>
          <a:p>
            <a:pPr lvl="0"/>
            <a:r>
              <a:rPr lang="en-US"/>
              <a:t>Slide text</a:t>
            </a:r>
            <a:endParaRPr lang="en-US"/>
          </a:p>
        </p:txBody>
      </p:sp>
      <p:sp>
        <p:nvSpPr>
          <p:cNvPr id="1048731" name="Rectangle 20"/>
          <p:cNvSpPr>
            <a:spLocks noChangeArrowheads="1"/>
          </p:cNvSpPr>
          <p:nvPr/>
        </p:nvSpPr>
        <p:spPr bwMode="auto">
          <a:xfrm>
            <a:off x="2971800" y="0"/>
            <a:ext cx="6172200" cy="627063"/>
          </a:xfrm>
          <a:prstGeom prst="rect">
            <a:avLst/>
          </a:prstGeom>
          <a:solidFill>
            <a:srgbClr val="FDCB0C"/>
          </a:solidFill>
          <a:ln>
            <a:noFill/>
          </a:ln>
        </p:spPr>
        <p:txBody>
          <a:bodyPr wrap="none" anchor="ctr"/>
          <a:lstStyle/>
          <a:p>
            <a:pPr algn="ctr" eaLnBrk="0" hangingPunct="0"/>
            <a:endParaRPr lang="en-US" sz="2400">
              <a:solidFill>
                <a:srgbClr val="000000"/>
              </a:solidFill>
              <a:latin typeface="Times" pitchFamily="18" charset="0"/>
            </a:endParaRPr>
          </a:p>
        </p:txBody>
      </p:sp>
      <p:sp>
        <p:nvSpPr>
          <p:cNvPr id="1048732" name="Rectangle 22"/>
          <p:cNvSpPr>
            <a:spLocks noGrp="1" noChangeArrowheads="1"/>
          </p:cNvSpPr>
          <p:nvPr>
            <p:ph type="title"/>
          </p:nvPr>
        </p:nvSpPr>
        <p:spPr bwMode="auto">
          <a:xfrm>
            <a:off x="938213" y="1531938"/>
            <a:ext cx="7704137" cy="814387"/>
          </a:xfrm>
          <a:prstGeom prst="rect">
            <a:avLst/>
          </a:prstGeom>
          <a:noFill/>
          <a:ln>
            <a:noFill/>
          </a:ln>
        </p:spPr>
        <p:txBody>
          <a:bodyPr vert="horz" wrap="square" lIns="91440" tIns="45720" rIns="91440" bIns="45720" numCol="1" anchor="ctr" anchorCtr="0" compatLnSpc="1"/>
          <a:lstStyle/>
          <a:p>
            <a:pPr lvl="0"/>
            <a:r>
              <a:rPr lang="en-US"/>
              <a:t>Slide Title</a:t>
            </a:r>
            <a:endParaRPr lang="en-US"/>
          </a:p>
        </p:txBody>
      </p:sp>
      <p:pic>
        <p:nvPicPr>
          <p:cNvPr id="2097167" name="Picture 29" descr="gprec"/>
          <p:cNvPicPr>
            <a:picLocks noChangeAspect="1" noChangeArrowheads="1"/>
          </p:cNvPicPr>
          <p:nvPr/>
        </p:nvPicPr>
        <p:blipFill>
          <a:blip r:embed="rId14">
            <a:clrChange>
              <a:clrFrom>
                <a:srgbClr val="FEFEFE"/>
              </a:clrFrom>
              <a:clrTo>
                <a:srgbClr val="FEFEFE">
                  <a:alpha val="0"/>
                </a:srgbClr>
              </a:clrTo>
            </a:clrChange>
          </a:blip>
          <a:srcRect/>
          <a:stretch>
            <a:fillRect/>
          </a:stretch>
        </p:blipFill>
        <p:spPr bwMode="auto">
          <a:xfrm>
            <a:off x="0" y="0"/>
            <a:ext cx="1828800" cy="708025"/>
          </a:xfrm>
          <a:prstGeom prst="rect">
            <a:avLst/>
          </a:prstGeom>
          <a:noFill/>
          <a:ln>
            <a:noFill/>
          </a:ln>
        </p:spPr>
      </p:pic>
      <p:pic>
        <p:nvPicPr>
          <p:cNvPr id="2097168" name="Picture 30" descr="slogan"/>
          <p:cNvPicPr>
            <a:picLocks noChangeAspect="1" noChangeArrowheads="1"/>
          </p:cNvPicPr>
          <p:nvPr/>
        </p:nvPicPr>
        <p:blipFill>
          <a:blip r:embed="rId15">
            <a:clrChange>
              <a:clrFrom>
                <a:srgbClr val="FCFCFC"/>
              </a:clrFrom>
              <a:clrTo>
                <a:srgbClr val="FCFCFC">
                  <a:alpha val="0"/>
                </a:srgbClr>
              </a:clrTo>
            </a:clrChange>
          </a:blip>
          <a:srcRect/>
          <a:stretch>
            <a:fillRect/>
          </a:stretch>
        </p:blipFill>
        <p:spPr bwMode="auto">
          <a:xfrm>
            <a:off x="6743700" y="6096000"/>
            <a:ext cx="2286000" cy="611188"/>
          </a:xfrm>
          <a:prstGeom prst="rect">
            <a:avLst/>
          </a:prstGeom>
          <a:noFill/>
          <a:ln>
            <a:noFill/>
          </a:ln>
        </p:spPr>
      </p:pic>
      <p:sp>
        <p:nvSpPr>
          <p:cNvPr id="1048733" name="Rectangle 32"/>
          <p:cNvSpPr>
            <a:spLocks noGrp="1" noChangeArrowheads="1"/>
          </p:cNvSpPr>
          <p:nvPr>
            <p:ph type="sldNum" sz="quarter" idx="4"/>
          </p:nvPr>
        </p:nvSpPr>
        <p:spPr bwMode="auto">
          <a:xfrm>
            <a:off x="6780213" y="6215063"/>
            <a:ext cx="240665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fld id="{52590367-E891-4DC4-8E3F-A4680C08E849}" type="slidenum">
              <a:rPr lang="en-US">
                <a:solidFill>
                  <a:srgbClr val="000000"/>
                </a:solidFill>
              </a:rPr>
            </a:fld>
            <a:r>
              <a:rPr lang="en-US">
                <a:solidFill>
                  <a:srgbClr val="000000"/>
                </a:solidFill>
              </a:rPr>
              <a:t>/33</a:t>
            </a:r>
            <a:endParaRPr 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Trebuchet MS" panose="020B0603020202020204" pitchFamily="34" charset="0"/>
        </a:defRPr>
      </a:lvl2pPr>
      <a:lvl3pPr algn="l" rtl="0" eaLnBrk="0" fontAlgn="base" hangingPunct="0">
        <a:spcBef>
          <a:spcPct val="0"/>
        </a:spcBef>
        <a:spcAft>
          <a:spcPct val="0"/>
        </a:spcAft>
        <a:defRPr sz="3400">
          <a:solidFill>
            <a:schemeClr val="tx1"/>
          </a:solidFill>
          <a:latin typeface="Trebuchet MS" panose="020B0603020202020204" pitchFamily="34" charset="0"/>
        </a:defRPr>
      </a:lvl3pPr>
      <a:lvl4pPr algn="l" rtl="0" eaLnBrk="0" fontAlgn="base" hangingPunct="0">
        <a:spcBef>
          <a:spcPct val="0"/>
        </a:spcBef>
        <a:spcAft>
          <a:spcPct val="0"/>
        </a:spcAft>
        <a:defRPr sz="3400">
          <a:solidFill>
            <a:schemeClr val="tx1"/>
          </a:solidFill>
          <a:latin typeface="Trebuchet MS" panose="020B0603020202020204" pitchFamily="34" charset="0"/>
        </a:defRPr>
      </a:lvl4pPr>
      <a:lvl5pPr algn="l" rtl="0" eaLnBrk="0" fontAlgn="base" hangingPunct="0">
        <a:spcBef>
          <a:spcPct val="0"/>
        </a:spcBef>
        <a:spcAft>
          <a:spcPct val="0"/>
        </a:spcAft>
        <a:defRPr sz="3400">
          <a:solidFill>
            <a:schemeClr val="tx1"/>
          </a:solidFill>
          <a:latin typeface="Trebuchet MS" panose="020B0603020202020204" pitchFamily="34" charset="0"/>
        </a:defRPr>
      </a:lvl5pPr>
      <a:lvl6pPr marL="457200" algn="l" rtl="0" fontAlgn="base">
        <a:spcBef>
          <a:spcPct val="0"/>
        </a:spcBef>
        <a:spcAft>
          <a:spcPct val="0"/>
        </a:spcAft>
        <a:defRPr sz="3400">
          <a:solidFill>
            <a:schemeClr val="tx1"/>
          </a:solidFill>
          <a:latin typeface="Trebuchet MS" panose="020B0603020202020204" pitchFamily="34" charset="0"/>
        </a:defRPr>
      </a:lvl6pPr>
      <a:lvl7pPr marL="914400" algn="l" rtl="0" fontAlgn="base">
        <a:spcBef>
          <a:spcPct val="0"/>
        </a:spcBef>
        <a:spcAft>
          <a:spcPct val="0"/>
        </a:spcAft>
        <a:defRPr sz="3400">
          <a:solidFill>
            <a:schemeClr val="tx1"/>
          </a:solidFill>
          <a:latin typeface="Trebuchet MS" panose="020B0603020202020204" pitchFamily="34" charset="0"/>
        </a:defRPr>
      </a:lvl7pPr>
      <a:lvl8pPr marL="1371600" algn="l" rtl="0" fontAlgn="base">
        <a:spcBef>
          <a:spcPct val="0"/>
        </a:spcBef>
        <a:spcAft>
          <a:spcPct val="0"/>
        </a:spcAft>
        <a:defRPr sz="3400">
          <a:solidFill>
            <a:schemeClr val="tx1"/>
          </a:solidFill>
          <a:latin typeface="Trebuchet MS" panose="020B0603020202020204" pitchFamily="34" charset="0"/>
        </a:defRPr>
      </a:lvl8pPr>
      <a:lvl9pPr marL="1828800" algn="l" rtl="0" fontAlgn="base">
        <a:spcBef>
          <a:spcPct val="0"/>
        </a:spcBef>
        <a:spcAft>
          <a:spcPct val="0"/>
        </a:spcAft>
        <a:defRPr sz="3400">
          <a:solidFill>
            <a:schemeClr val="tx1"/>
          </a:solidFill>
          <a:latin typeface="Trebuchet MS" panose="020B0603020202020204" pitchFamily="34" charset="0"/>
        </a:defRPr>
      </a:lvl9pPr>
    </p:titleStyle>
    <p:bodyStyle>
      <a:lvl1pPr marL="342900" indent="-342900" algn="l" rtl="0" eaLnBrk="0" fontAlgn="base" hangingPunct="0">
        <a:spcBef>
          <a:spcPct val="20000"/>
        </a:spcBef>
        <a:spcAft>
          <a:spcPct val="0"/>
        </a:spcAft>
        <a:buClr>
          <a:schemeClr val="tx1"/>
        </a:buClr>
        <a:buChar char="•"/>
        <a:defRPr sz="1600">
          <a:solidFill>
            <a:srgbClr val="7F7F79"/>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lum/>
          </a:blip>
          <a:srcRect/>
          <a:stretch>
            <a:fillRect l="-2000" r="-2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CEEEAB8-7E17-497A-821C-77337C4DAA47}" type="datetimeFigureOut">
              <a:rPr lang="en-US"/>
            </a:fld>
            <a:endParaRPr lang="en-US" dirty="0"/>
          </a:p>
        </p:txBody>
      </p:sp>
      <p:sp>
        <p:nvSpPr>
          <p:cNvPr id="5"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7B1DD4D-63F8-4EC7-B693-F1F85E5B1C0E}"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customXml" Target="../ink/ink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www.google.com/url?sa=E&amp;q=https%3A%2F%2Fmatplotlib.org%2F" TargetMode="External"/><Relationship Id="rId5" Type="http://schemas.openxmlformats.org/officeDocument/2006/relationships/hyperlink" Target="https://www.google.com/url?sa=E&amp;q=https%3A%2F%2Fnumpy.org%2Fdoc%2F" TargetMode="External"/><Relationship Id="rId4" Type="http://schemas.openxmlformats.org/officeDocument/2006/relationships/hyperlink" Target="https://www.google.com/url?sa=E&amp;q=https%3A%2F%2Fcrisisnlp.qcri.org%2Fcrisismmd" TargetMode="External"/><Relationship Id="rId3" Type="http://schemas.openxmlformats.org/officeDocument/2006/relationships/hyperlink" Target="https://www.google.com/url?sa=E&amp;q=https%3A%2F%2Fgithub.com%2Fgoogle-research%2Fvision_transformer" TargetMode="External"/><Relationship Id="rId2" Type="http://schemas.openxmlformats.org/officeDocument/2006/relationships/hyperlink" Target="https://www.google.com/url?sa=E&amp;q=https%3A%2F%2Fgithub.com%2Fgoogle-research%2Fbert" TargetMode="External"/><Relationship Id="rId1" Type="http://schemas.openxmlformats.org/officeDocument/2006/relationships/hyperlink" Target="https://www.google.com/url?sa=E&amp;q=https%3A%2F%2Fpytorch.org%2Fdocs%2F"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76200" y="2506156"/>
            <a:ext cx="8839200" cy="171415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sz="2400" b="1" kern="0" dirty="0" smtClean="0">
                <a:latin typeface="Times New Roman" panose="02020603050405020304" charset="0"/>
                <a:cs typeface="Times New Roman" panose="02020603050405020304" charset="0"/>
              </a:rPr>
              <a:t>PROJECT TITLE:</a:t>
            </a:r>
            <a:endParaRPr lang="en-US" sz="2400" b="1" kern="0" dirty="0" smtClean="0">
              <a:latin typeface="Times New Roman" panose="02020603050405020304" charset="0"/>
              <a:cs typeface="Times New Roman" panose="02020603050405020304" charset="0"/>
            </a:endParaRPr>
          </a:p>
          <a:p>
            <a:r>
              <a:rPr lang="en-US" sz="2400" b="1" kern="0" dirty="0" smtClean="0">
                <a:latin typeface="Times New Roman" panose="02020603050405020304" charset="0"/>
                <a:cs typeface="Times New Roman" panose="02020603050405020304" charset="0"/>
              </a:rPr>
              <a:t>Transformer-Based </a:t>
            </a:r>
            <a:r>
              <a:rPr lang="en-US" sz="2400" b="1" kern="0" dirty="0" smtClean="0">
                <a:latin typeface="Times New Roman" panose="02020603050405020304" charset="0"/>
                <a:cs typeface="Times New Roman" panose="02020603050405020304" charset="0"/>
              </a:rPr>
              <a:t>Multimodal Learning for Real-Time Disaster Tweet Classification</a:t>
            </a:r>
            <a:br>
              <a:rPr lang="en-US" sz="2400" b="1" kern="0" dirty="0" smtClean="0">
                <a:latin typeface="Times New Roman" panose="02020603050405020304" charset="0"/>
                <a:cs typeface="Times New Roman" panose="02020603050405020304" charset="0"/>
              </a:rPr>
            </a:br>
            <a:endParaRPr lang="en-US" sz="2400" b="1" kern="0" dirty="0">
              <a:solidFill>
                <a:schemeClr val="accent2"/>
              </a:solidFill>
              <a:latin typeface="Times New Roman" panose="02020603050405020304" charset="0"/>
              <a:cs typeface="Times New Roman" panose="02020603050405020304" charset="0"/>
            </a:endParaRPr>
          </a:p>
        </p:txBody>
      </p:sp>
      <p:sp>
        <p:nvSpPr>
          <p:cNvPr id="3" name="Subtitle 2"/>
          <p:cNvSpPr txBox="1"/>
          <p:nvPr/>
        </p:nvSpPr>
        <p:spPr>
          <a:xfrm>
            <a:off x="5023809" y="4231399"/>
            <a:ext cx="4501191" cy="1555139"/>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2400" b="1" kern="0" dirty="0" smtClean="0">
                <a:solidFill>
                  <a:srgbClr val="00B050"/>
                </a:solidFill>
                <a:latin typeface="Times New Roman" panose="02020603050405020304" charset="0"/>
                <a:cs typeface="Times New Roman" panose="02020603050405020304" charset="0"/>
              </a:rPr>
              <a:t>Project Supervisor</a:t>
            </a:r>
            <a:endParaRPr lang="en-US" sz="2400" b="1" kern="0" dirty="0" smtClean="0">
              <a:solidFill>
                <a:srgbClr val="00B050"/>
              </a:solidFill>
              <a:latin typeface="Times New Roman" panose="02020603050405020304" charset="0"/>
              <a:cs typeface="Times New Roman" panose="02020603050405020304" charset="0"/>
            </a:endParaRPr>
          </a:p>
          <a:p>
            <a:r>
              <a:rPr lang="en-IN" sz="2400" kern="0" dirty="0" smtClean="0">
                <a:solidFill>
                  <a:srgbClr val="00B050"/>
                </a:solidFill>
                <a:latin typeface="Times New Roman" panose="02020603050405020304" charset="0"/>
                <a:cs typeface="Times New Roman" panose="02020603050405020304" charset="0"/>
              </a:rPr>
              <a:t>Mrs K. Lakshmi </a:t>
            </a:r>
            <a:r>
              <a:rPr lang="en-IN" sz="2400" kern="0" baseline="-25000" dirty="0" smtClean="0">
                <a:solidFill>
                  <a:srgbClr val="00B050"/>
                </a:solidFill>
                <a:latin typeface="Times New Roman" panose="02020603050405020304" charset="0"/>
                <a:cs typeface="Times New Roman" panose="02020603050405020304" charset="0"/>
              </a:rPr>
              <a:t> </a:t>
            </a:r>
            <a:r>
              <a:rPr lang="en-IN" sz="2400" kern="0" baseline="-25000" dirty="0" err="1" smtClean="0">
                <a:solidFill>
                  <a:srgbClr val="00B050"/>
                </a:solidFill>
                <a:latin typeface="Times New Roman" panose="02020603050405020304" charset="0"/>
                <a:cs typeface="Times New Roman" panose="02020603050405020304" charset="0"/>
              </a:rPr>
              <a:t>M.Tech</a:t>
            </a:r>
            <a:r>
              <a:rPr lang="en-IN" sz="2400" kern="0" baseline="-25000" dirty="0" smtClean="0">
                <a:solidFill>
                  <a:srgbClr val="00B050"/>
                </a:solidFill>
                <a:latin typeface="Times New Roman" panose="02020603050405020304" charset="0"/>
                <a:cs typeface="Times New Roman" panose="02020603050405020304" charset="0"/>
              </a:rPr>
              <a:t>.,(</a:t>
            </a:r>
            <a:r>
              <a:rPr lang="en-IN" sz="2400" kern="0" baseline="-25000" dirty="0" err="1" smtClean="0">
                <a:solidFill>
                  <a:srgbClr val="00B050"/>
                </a:solidFill>
                <a:latin typeface="Times New Roman" panose="02020603050405020304" charset="0"/>
                <a:cs typeface="Times New Roman" panose="02020603050405020304" charset="0"/>
              </a:rPr>
              <a:t>Ph.D</a:t>
            </a:r>
            <a:r>
              <a:rPr lang="en-IN" sz="2400" kern="0" baseline="-25000" dirty="0" smtClean="0">
                <a:solidFill>
                  <a:srgbClr val="00B050"/>
                </a:solidFill>
                <a:latin typeface="Times New Roman" panose="02020603050405020304" charset="0"/>
                <a:cs typeface="Times New Roman" panose="02020603050405020304" charset="0"/>
              </a:rPr>
              <a:t>)</a:t>
            </a:r>
            <a:endParaRPr lang="en-IN" sz="2400" kern="0" dirty="0" smtClean="0">
              <a:solidFill>
                <a:srgbClr val="00B050"/>
              </a:solidFill>
              <a:latin typeface="Times New Roman" panose="02020603050405020304" charset="0"/>
              <a:ea typeface="Calibri" panose="020F0502020204030204" pitchFamily="34" charset="0"/>
              <a:cs typeface="Times New Roman" panose="02020603050405020304" charset="0"/>
            </a:endParaRPr>
          </a:p>
          <a:p>
            <a:endParaRPr lang="en-US" sz="2400" kern="0" dirty="0">
              <a:solidFill>
                <a:schemeClr val="bg2">
                  <a:lumMod val="60000"/>
                  <a:lumOff val="40000"/>
                </a:schemeClr>
              </a:solidFill>
              <a:latin typeface="Times New Roman" panose="02020603050405020304" charset="0"/>
              <a:cs typeface="Times New Roman" panose="02020603050405020304" charset="0"/>
            </a:endParaRPr>
          </a:p>
        </p:txBody>
      </p:sp>
      <p:sp>
        <p:nvSpPr>
          <p:cNvPr id="5" name="TextBox 4"/>
          <p:cNvSpPr txBox="1"/>
          <p:nvPr/>
        </p:nvSpPr>
        <p:spPr>
          <a:xfrm>
            <a:off x="914401" y="1182166"/>
            <a:ext cx="7620000" cy="1169551"/>
          </a:xfrm>
          <a:prstGeom prst="rect">
            <a:avLst/>
          </a:prstGeom>
          <a:noFill/>
        </p:spPr>
        <p:txBody>
          <a:bodyPr wrap="square" rtlCol="0">
            <a:spAutoFit/>
          </a:bodyPr>
          <a:lstStyle/>
          <a:p>
            <a:pPr algn="ctr">
              <a:lnSpc>
                <a:spcPct val="150000"/>
              </a:lnSpc>
            </a:pPr>
            <a:r>
              <a:rPr lang="en-US" sz="2000" b="1" dirty="0">
                <a:solidFill>
                  <a:schemeClr val="accent2"/>
                </a:solidFill>
                <a:latin typeface="Times New Roman" panose="02020603050405020304" charset="0"/>
                <a:cs typeface="Times New Roman" panose="02020603050405020304" charset="0"/>
              </a:rPr>
              <a:t>Department of Computer Science and Engineering</a:t>
            </a:r>
            <a:endParaRPr lang="en-US" sz="2000" b="1" dirty="0">
              <a:solidFill>
                <a:schemeClr val="accent2"/>
              </a:solidFill>
              <a:latin typeface="Times New Roman" panose="02020603050405020304" charset="0"/>
              <a:cs typeface="Times New Roman" panose="02020603050405020304" charset="0"/>
            </a:endParaRPr>
          </a:p>
          <a:p>
            <a:pPr algn="ctr"/>
            <a:r>
              <a:rPr lang="en-IN" sz="2000" b="1" dirty="0">
                <a:solidFill>
                  <a:schemeClr val="accent2"/>
                </a:solidFill>
                <a:latin typeface="Times New Roman" panose="02020603050405020304" charset="0"/>
                <a:cs typeface="Times New Roman" panose="02020603050405020304" charset="0"/>
              </a:rPr>
              <a:t>IV B .Tech II Semester</a:t>
            </a:r>
            <a:r>
              <a:rPr lang="en-US" sz="2000" b="1" dirty="0">
                <a:solidFill>
                  <a:schemeClr val="accent2"/>
                </a:solidFill>
                <a:latin typeface="Times New Roman" panose="02020603050405020304" charset="0"/>
                <a:cs typeface="Times New Roman" panose="02020603050405020304" charset="0"/>
              </a:rPr>
              <a:t> </a:t>
            </a:r>
            <a:endParaRPr lang="en-US" sz="2000" b="1" dirty="0">
              <a:solidFill>
                <a:schemeClr val="accent2"/>
              </a:solidFill>
              <a:latin typeface="Times New Roman" panose="02020603050405020304" charset="0"/>
              <a:cs typeface="Times New Roman" panose="02020603050405020304" charset="0"/>
            </a:endParaRPr>
          </a:p>
          <a:p>
            <a:pPr algn="ctr"/>
            <a:r>
              <a:rPr lang="en-US" sz="2000" b="1" dirty="0">
                <a:solidFill>
                  <a:schemeClr val="accent2"/>
                </a:solidFill>
                <a:latin typeface="Times New Roman" panose="02020603050405020304" charset="0"/>
                <a:cs typeface="Times New Roman" panose="02020603050405020304" charset="0"/>
              </a:rPr>
              <a:t>MAJOR PROJECT</a:t>
            </a:r>
            <a:endParaRPr lang="en-US" sz="2000" b="1" dirty="0">
              <a:solidFill>
                <a:schemeClr val="accent2"/>
              </a:solidFill>
              <a:latin typeface="Times New Roman" panose="02020603050405020304" charset="0"/>
              <a:cs typeface="Times New Roman" panose="02020603050405020304" charset="0"/>
            </a:endParaRPr>
          </a:p>
        </p:txBody>
      </p:sp>
      <p:sp>
        <p:nvSpPr>
          <p:cNvPr id="6" name="TextBox 5"/>
          <p:cNvSpPr txBox="1"/>
          <p:nvPr/>
        </p:nvSpPr>
        <p:spPr>
          <a:xfrm>
            <a:off x="304800" y="4220308"/>
            <a:ext cx="5143502" cy="1200329"/>
          </a:xfrm>
          <a:prstGeom prst="rect">
            <a:avLst/>
          </a:prstGeom>
          <a:noFill/>
        </p:spPr>
        <p:txBody>
          <a:bodyPr wrap="square" rtlCol="0">
            <a:spAutoFit/>
          </a:bodyPr>
          <a:lstStyle/>
          <a:p>
            <a:r>
              <a:rPr lang="en-US" dirty="0" err="1" smtClean="0">
                <a:solidFill>
                  <a:srgbClr val="0070C0"/>
                </a:solidFill>
                <a:latin typeface="Times New Roman" panose="02020603050405020304" charset="0"/>
                <a:cs typeface="Times New Roman" panose="02020603050405020304" charset="0"/>
              </a:rPr>
              <a:t>Kethaboyeina</a:t>
            </a:r>
            <a:r>
              <a:rPr lang="en-US" dirty="0" smtClean="0">
                <a:solidFill>
                  <a:srgbClr val="0070C0"/>
                </a:solidFill>
                <a:latin typeface="Times New Roman" panose="02020603050405020304" charset="0"/>
                <a:cs typeface="Times New Roman" panose="02020603050405020304" charset="0"/>
              </a:rPr>
              <a:t> </a:t>
            </a:r>
            <a:r>
              <a:rPr lang="en-US" dirty="0" err="1">
                <a:solidFill>
                  <a:srgbClr val="0070C0"/>
                </a:solidFill>
                <a:latin typeface="Times New Roman" panose="02020603050405020304" charset="0"/>
                <a:cs typeface="Times New Roman" panose="02020603050405020304" charset="0"/>
              </a:rPr>
              <a:t>Bhumika</a:t>
            </a:r>
            <a:r>
              <a:rPr lang="en-US" dirty="0">
                <a:solidFill>
                  <a:srgbClr val="0070C0"/>
                </a:solidFill>
                <a:latin typeface="Times New Roman" panose="02020603050405020304" charset="0"/>
                <a:cs typeface="Times New Roman" panose="02020603050405020304" charset="0"/>
              </a:rPr>
              <a:t>     </a:t>
            </a:r>
            <a:r>
              <a:rPr lang="en-US" dirty="0" smtClean="0">
                <a:solidFill>
                  <a:srgbClr val="0070C0"/>
                </a:solidFill>
                <a:latin typeface="Times New Roman" panose="02020603050405020304" charset="0"/>
                <a:cs typeface="Times New Roman" panose="02020603050405020304" charset="0"/>
              </a:rPr>
              <a:t> </a:t>
            </a:r>
            <a:r>
              <a:rPr lang="en-US" dirty="0">
                <a:solidFill>
                  <a:srgbClr val="0070C0"/>
                </a:solidFill>
                <a:latin typeface="Times New Roman" panose="02020603050405020304" charset="0"/>
                <a:cs typeface="Times New Roman" panose="02020603050405020304" charset="0"/>
              </a:rPr>
              <a:t>(22AT1A0561)</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Mandla Baby Vineetha       (22AT1A0574)</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Maram Sudhiksha              (22AT1A0577)</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S Shaima Safath                (22AT1A05B4)</a:t>
            </a:r>
            <a:endParaRPr lang="en-IN" dirty="0">
              <a:latin typeface="Times New Roman" panose="02020603050405020304" charset="0"/>
              <a:cs typeface="Times New Roman" panose="02020603050405020304" charset="0"/>
            </a:endParaRPr>
          </a:p>
        </p:txBody>
      </p:sp>
      <p:sp>
        <p:nvSpPr>
          <p:cNvPr id="7" name="TextBox 6"/>
          <p:cNvSpPr txBox="1"/>
          <p:nvPr/>
        </p:nvSpPr>
        <p:spPr>
          <a:xfrm>
            <a:off x="218178" y="807367"/>
            <a:ext cx="8925822" cy="523220"/>
          </a:xfrm>
          <a:prstGeom prst="rect">
            <a:avLst/>
          </a:prstGeom>
          <a:noFill/>
        </p:spPr>
        <p:txBody>
          <a:bodyPr wrap="square" rtlCol="0">
            <a:spAutoFit/>
          </a:bodyPr>
          <a:lstStyle/>
          <a:p>
            <a:pPr algn="ctr"/>
            <a:r>
              <a:rPr lang="en-US" sz="2800" b="1" dirty="0">
                <a:solidFill>
                  <a:schemeClr val="accent2"/>
                </a:solidFill>
                <a:latin typeface="Times New Roman" panose="02020603050405020304" charset="0"/>
                <a:cs typeface="Times New Roman" panose="02020603050405020304" charset="0"/>
              </a:rPr>
              <a:t>G. Pullaiah College Of Engineering and Technology</a:t>
            </a:r>
            <a:endParaRPr lang="en-US" sz="2800" b="1" dirty="0">
              <a:solidFill>
                <a:schemeClr val="accent2"/>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AutoShape 4"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5" name="AutoShape 6"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6" name="AutoShape 8"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7" name="TextBox 19"/>
          <p:cNvSpPr txBox="1">
            <a:spLocks noChangeArrowheads="1"/>
          </p:cNvSpPr>
          <p:nvPr/>
        </p:nvSpPr>
        <p:spPr bwMode="auto">
          <a:xfrm>
            <a:off x="609600" y="1371600"/>
            <a:ext cx="8093359" cy="3785652"/>
          </a:xfrm>
          <a:prstGeom prst="rect">
            <a:avLst/>
          </a:prstGeom>
          <a:noFill/>
          <a:ln w="9525">
            <a:noFill/>
            <a:miter lim="800000"/>
          </a:ln>
        </p:spPr>
        <p:txBody>
          <a:bodyPr wrap="square" lIns="91440" tIns="45720" rIns="91440" bIns="45720" anchor="t">
            <a:spAutoFit/>
          </a:bodyPr>
          <a:lstStyle/>
          <a:p>
            <a:pPr marL="342900" indent="-342900" algn="just">
              <a:buAutoNum type="arabicPeriod"/>
            </a:pPr>
            <a:r>
              <a:rPr lang="en-IN" sz="2400" b="1" dirty="0">
                <a:latin typeface="Times New Roman" panose="02020603050405020304" charset="0"/>
                <a:cs typeface="Times New Roman" panose="02020603050405020304" charset="0"/>
              </a:rPr>
              <a:t>Motivation</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Objectives</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Abstract</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Introduction</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Existing System , Disadvantages</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Proposed method , Advantages</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Algorithms</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Modules</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Literature Survey</a:t>
            </a:r>
            <a:endParaRPr lang="en-IN" sz="2400" b="1" dirty="0">
              <a:latin typeface="Times New Roman" panose="02020603050405020304" charset="0"/>
              <a:cs typeface="Times New Roman" panose="02020603050405020304" charset="0"/>
            </a:endParaRPr>
          </a:p>
          <a:p>
            <a:pPr marL="342900" indent="-342900" algn="just">
              <a:buAutoNum type="arabicPeriod"/>
            </a:pPr>
            <a:r>
              <a:rPr lang="en-IN" sz="2400" b="1" dirty="0">
                <a:latin typeface="Times New Roman" panose="02020603050405020304" charset="0"/>
                <a:cs typeface="Times New Roman" panose="02020603050405020304" charset="0"/>
              </a:rPr>
              <a:t>Conclusion</a:t>
            </a:r>
            <a:endParaRPr lang="en-IN" sz="2400" b="1" dirty="0">
              <a:latin typeface="Times New Roman" panose="02020603050405020304" charset="0"/>
              <a:cs typeface="Times New Roman" panose="02020603050405020304" charset="0"/>
            </a:endParaRPr>
          </a:p>
        </p:txBody>
      </p:sp>
      <p:sp>
        <p:nvSpPr>
          <p:cNvPr id="1048628" name="Slide Number Placeholder 20"/>
          <p:cNvSpPr>
            <a:spLocks noGrp="1"/>
          </p:cNvSpPr>
          <p:nvPr>
            <p:ph type="sldNum" sz="quarter" idx="12"/>
          </p:nvPr>
        </p:nvSpPr>
        <p:spPr>
          <a:xfrm>
            <a:off x="7010400" y="-69448"/>
            <a:ext cx="2133600" cy="434573"/>
          </a:xfrm>
        </p:spPr>
        <p:txBody>
          <a:bodyPr/>
          <a:lstStyle/>
          <a:p>
            <a:fld id="{2A2D4643-A560-41CA-9262-83B50CB01BF4}" type="slidenum">
              <a:rPr lang="en-IN" smtClean="0">
                <a:solidFill>
                  <a:prstClr val="black">
                    <a:tint val="75000"/>
                  </a:prstClr>
                </a:solidFill>
                <a:latin typeface="Times New Roman" panose="02020603050405020304" charset="0"/>
                <a:cs typeface="Times New Roman" panose="02020603050405020304" charset="0"/>
              </a:rPr>
            </a:fld>
            <a:endParaRPr lang="en-IN">
              <a:solidFill>
                <a:prstClr val="black">
                  <a:tint val="75000"/>
                </a:prstClr>
              </a:solidFill>
              <a:latin typeface="Times New Roman" panose="02020603050405020304" charset="0"/>
              <a:cs typeface="Times New Roman" panose="02020603050405020304" charset="0"/>
            </a:endParaRPr>
          </a:p>
        </p:txBody>
      </p:sp>
      <p:sp>
        <p:nvSpPr>
          <p:cNvPr id="1048629" name="Rectangle 18"/>
          <p:cNvSpPr/>
          <p:nvPr/>
        </p:nvSpPr>
        <p:spPr>
          <a:xfrm>
            <a:off x="3810000" y="158086"/>
            <a:ext cx="2452929" cy="523220"/>
          </a:xfrm>
          <a:prstGeom prst="rect">
            <a:avLst/>
          </a:prstGeom>
        </p:spPr>
        <p:txBody>
          <a:bodyPr wrap="square">
            <a:spAutoFit/>
          </a:bodyPr>
          <a:lstStyle/>
          <a:p>
            <a:r>
              <a:rPr lang="en-US" sz="2800" b="1" kern="0" cap="all" dirty="0">
                <a:latin typeface="Times New Roman" panose="02020603050405020304" charset="0"/>
                <a:cs typeface="Times New Roman" panose="02020603050405020304" charset="0"/>
              </a:rPr>
              <a:t>CONTENTS</a:t>
            </a:r>
            <a:endParaRPr lang="en-IN" sz="28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1"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2"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5" name="Slide Number Placeholder 20"/>
          <p:cNvSpPr>
            <a:spLocks noGrp="1"/>
          </p:cNvSpPr>
          <p:nvPr>
            <p:ph type="sldNum" sz="quarter" idx="12"/>
          </p:nvPr>
        </p:nvSpPr>
        <p:spPr/>
        <p:txBody>
          <a:bodyPr/>
          <a:lstStyle/>
          <a:p>
            <a:fld id="{2A2D4643-A560-41CA-9262-83B50CB01BF4}" type="slidenum">
              <a:rPr lang="en-IN" smtClean="0">
                <a:solidFill>
                  <a:prstClr val="black">
                    <a:tint val="75000"/>
                  </a:prstClr>
                </a:solidFill>
              </a:rPr>
            </a:fld>
            <a:endParaRPr lang="en-IN">
              <a:solidFill>
                <a:prstClr val="black">
                  <a:tint val="75000"/>
                </a:prstClr>
              </a:solidFill>
            </a:endParaRPr>
          </a:p>
        </p:txBody>
      </p:sp>
      <p:sp>
        <p:nvSpPr>
          <p:cNvPr id="1048636" name="Rectangle 18"/>
          <p:cNvSpPr/>
          <p:nvPr/>
        </p:nvSpPr>
        <p:spPr>
          <a:xfrm>
            <a:off x="4024071" y="158086"/>
            <a:ext cx="3062529"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Motivation</a:t>
            </a:r>
            <a:endParaRPr lang="en-IN" sz="2800" dirty="0">
              <a:latin typeface="Times New Roman" panose="02020603050405020304" charset="0"/>
              <a:cs typeface="Times New Roman" panose="02020603050405020304" charset="0"/>
            </a:endParaRPr>
          </a:p>
        </p:txBody>
      </p:sp>
      <p:sp>
        <p:nvSpPr>
          <p:cNvPr id="2" name="Rectangle 1"/>
          <p:cNvSpPr>
            <a:spLocks noChangeArrowheads="1"/>
          </p:cNvSpPr>
          <p:nvPr/>
        </p:nvSpPr>
        <p:spPr bwMode="auto">
          <a:xfrm>
            <a:off x="460375" y="1524000"/>
            <a:ext cx="815022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Social media </a:t>
            </a:r>
            <a:r>
              <a:rPr lang="en-US" altLang="en-US" dirty="0" smtClean="0">
                <a:latin typeface="Times New Roman" panose="02020603050405020304" charset="0"/>
                <a:cs typeface="Times New Roman" panose="02020603050405020304" charset="0"/>
              </a:rPr>
              <a:t>plays </a:t>
            </a:r>
            <a:r>
              <a:rPr lang="en-US" altLang="en-US" dirty="0">
                <a:latin typeface="Times New Roman" panose="02020603050405020304" charset="0"/>
                <a:cs typeface="Times New Roman" panose="02020603050405020304" charset="0"/>
              </a:rPr>
              <a:t>a critical role during disasters</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Huge amount of real-time data is generated</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Difficult to identify relevant and reliable information quickly</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Presence of misinformation and fake news creates confusion</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Need for an automated intelligent system</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Helps in faster decision-making and disaster response</a:t>
            </a: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8"/>
          <p:cNvSpPr/>
          <p:nvPr/>
        </p:nvSpPr>
        <p:spPr>
          <a:xfrm>
            <a:off x="3850934" y="170652"/>
            <a:ext cx="3083266"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objectives</a:t>
            </a:r>
            <a:endParaRPr lang="en-IN" sz="2800" dirty="0">
              <a:latin typeface="Times New Roman" panose="02020603050405020304" charset="0"/>
              <a:cs typeface="Times New Roman" panose="02020603050405020304" charset="0"/>
            </a:endParaRPr>
          </a:p>
        </p:txBody>
      </p:sp>
      <p:sp>
        <p:nvSpPr>
          <p:cNvPr id="6" name="Rectangle 2"/>
          <p:cNvSpPr>
            <a:spLocks noGrp="1" noChangeArrowheads="1"/>
          </p:cNvSpPr>
          <p:nvPr>
            <p:ph idx="1"/>
          </p:nvPr>
        </p:nvSpPr>
        <p:spPr bwMode="auto">
          <a:xfrm>
            <a:off x="838200" y="1855167"/>
            <a:ext cx="6778966"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classify disaster-related tweets in real-time</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detect misinformation in tweets</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combine text + image (multimodal data)</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use Transformer models for better accuracy</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reduce dependency on large labeled datasets</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improve generalization across different disasters</a:t>
            </a:r>
            <a:endParaRPr lang="en-US" altLang="en-US" sz="1800"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Content Placeholder 6"/>
          <p:cNvSpPr>
            <a:spLocks noGrp="1"/>
          </p:cNvSpPr>
          <p:nvPr>
            <p:ph idx="1"/>
          </p:nvPr>
        </p:nvSpPr>
        <p:spPr>
          <a:xfrm>
            <a:off x="455645" y="1143000"/>
            <a:ext cx="8229600" cy="4038600"/>
          </a:xfrm>
        </p:spPr>
        <p:txBody>
          <a:bodyPr/>
          <a:lstStyle/>
          <a:p>
            <a:pPr algn="just">
              <a:lnSpc>
                <a:spcPct val="150000"/>
              </a:lnSpc>
            </a:pPr>
            <a:r>
              <a:rPr lang="en-US" sz="1800" dirty="0">
                <a:latin typeface="Times New Roman" panose="02020603050405020304" charset="0"/>
                <a:cs typeface="Times New Roman" panose="02020603050405020304" charset="0"/>
              </a:rPr>
              <a:t>This project proposes a </a:t>
            </a:r>
            <a:r>
              <a:rPr lang="en-US" sz="1800" b="1" dirty="0">
                <a:latin typeface="Times New Roman" panose="02020603050405020304" charset="0"/>
                <a:cs typeface="Times New Roman" panose="02020603050405020304" charset="0"/>
              </a:rPr>
              <a:t>Transformer-based multimodal framework</a:t>
            </a:r>
            <a:r>
              <a:rPr lang="en-US" sz="1800" dirty="0">
                <a:latin typeface="Times New Roman" panose="02020603050405020304" charset="0"/>
                <a:cs typeface="Times New Roman" panose="02020603050405020304" charset="0"/>
              </a:rPr>
              <a:t> for real-time disaster data classification and misinformation detection. </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The </a:t>
            </a:r>
            <a:r>
              <a:rPr lang="en-US" sz="1800" dirty="0">
                <a:latin typeface="Times New Roman" panose="02020603050405020304" charset="0"/>
                <a:cs typeface="Times New Roman" panose="02020603050405020304" charset="0"/>
              </a:rPr>
              <a:t>system combines textual and visual data to improve understanding and accuracy</a:t>
            </a:r>
            <a:r>
              <a:rPr lang="en-US" sz="1800" dirty="0" smtClean="0">
                <a:latin typeface="Times New Roman" panose="02020603050405020304" charset="0"/>
                <a:cs typeface="Times New Roman" panose="02020603050405020304" charset="0"/>
              </a:rPr>
              <a:t>.</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 </a:t>
            </a:r>
            <a:r>
              <a:rPr lang="en-US" sz="1800" dirty="0">
                <a:latin typeface="Times New Roman" panose="02020603050405020304" charset="0"/>
                <a:cs typeface="Times New Roman" panose="02020603050405020304" charset="0"/>
              </a:rPr>
              <a:t>Advanced models like BERT for text and CNN-based architectures for images are used to extract features</a:t>
            </a:r>
            <a:r>
              <a:rPr lang="en-US" sz="1800" dirty="0" smtClean="0">
                <a:latin typeface="Times New Roman" panose="02020603050405020304" charset="0"/>
                <a:cs typeface="Times New Roman" panose="02020603050405020304" charset="0"/>
              </a:rPr>
              <a:t>.</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 </a:t>
            </a:r>
            <a:r>
              <a:rPr lang="en-US" sz="1800" dirty="0">
                <a:latin typeface="Times New Roman" panose="02020603050405020304" charset="0"/>
                <a:cs typeface="Times New Roman" panose="02020603050405020304" charset="0"/>
              </a:rPr>
              <a:t>These features are fused and classified into categories such </a:t>
            </a:r>
            <a:r>
              <a:rPr lang="en-US" sz="1800" dirty="0" smtClean="0">
                <a:latin typeface="Times New Roman" panose="02020603050405020304" charset="0"/>
                <a:cs typeface="Times New Roman" panose="02020603050405020304" charset="0"/>
              </a:rPr>
              <a:t>as disaster and non-disaster. </a:t>
            </a:r>
            <a:r>
              <a:rPr lang="en-US" sz="1800" dirty="0">
                <a:latin typeface="Times New Roman" panose="02020603050405020304" charset="0"/>
                <a:cs typeface="Times New Roman" panose="02020603050405020304" charset="0"/>
              </a:rPr>
              <a:t>The system enhances decision-making by providing reliable and timely information during disasters.</a:t>
            </a:r>
            <a:endParaRPr lang="en-US" altLang="en-US" sz="1800" dirty="0">
              <a:effectLst/>
              <a:latin typeface="Times New Roman" panose="02020603050405020304" charset="0"/>
              <a:ea typeface="Times New Roman" panose="02020603050405020304" charset="0"/>
              <a:cs typeface="Times New Roman" panose="02020603050405020304" charset="0"/>
            </a:endParaRPr>
          </a:p>
        </p:txBody>
      </p:sp>
      <p:sp>
        <p:nvSpPr>
          <p:cNvPr id="1048669" name="Slide Number Placeholder 3"/>
          <p:cNvSpPr>
            <a:spLocks noGrp="1"/>
          </p:cNvSpPr>
          <p:nvPr>
            <p:ph type="sldNum" sz="quarter" idx="12"/>
          </p:nvPr>
        </p:nvSpPr>
        <p:spPr/>
        <p:txBody>
          <a:bodyPr/>
          <a:lstStyle/>
          <a:p>
            <a:fld id="{CACE0FC3-80A5-4E6A-8463-A948B12D76EE}" type="slidenum">
              <a:rPr lang="en-US" smtClean="0"/>
            </a:fld>
            <a:endParaRPr lang="en-US"/>
          </a:p>
        </p:txBody>
      </p:sp>
      <p:sp>
        <p:nvSpPr>
          <p:cNvPr id="1048670" name="Rectangle 1"/>
          <p:cNvSpPr/>
          <p:nvPr/>
        </p:nvSpPr>
        <p:spPr>
          <a:xfrm>
            <a:off x="3810000" y="127969"/>
            <a:ext cx="2667000"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ABSTRACT</a:t>
            </a:r>
            <a:endParaRPr lang="en-IN" sz="28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2"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3"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6" name="Content Placeholder 10"/>
          <p:cNvSpPr>
            <a:spLocks noGrp="1"/>
          </p:cNvSpPr>
          <p:nvPr>
            <p:ph idx="1"/>
          </p:nvPr>
        </p:nvSpPr>
        <p:spPr>
          <a:xfrm>
            <a:off x="460375" y="822960"/>
            <a:ext cx="8398510" cy="4434840"/>
          </a:xfrm>
        </p:spPr>
        <p:txBody>
          <a:bodyPr/>
          <a:lstStyle/>
          <a:p>
            <a:pPr marL="0" indent="0">
              <a:buNone/>
            </a:pP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Context:</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Social media platforms, specifically Twitter (X), have become a vital "real-time sensor network" during disasters. Emergency responders rely on this data for situational awareness and resource allocation.</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The Problem:</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Traditional manual monitoring is impossible due to the massive volume and speed of data. Existing automated systems are often limited because they are unimodal (only analyze text) or offline (not real-time). This makes them susceptible to "noise," metaphorical language (e.g., "This pizza is a disaster"), and misinformation like "recycled" images from past events.</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The Solution:</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This project proposes a Transformer-Based Multimodal Framework that processes both text and images simultaneously.</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Technology: It utilizes a dual-encoder architecture featuring BERT for deep textual analysis and a Vision Transformer (ViT) for spatial image features.</a:t>
            </a:r>
            <a:endParaRPr lang="en-US" altLang="en-US" sz="1800" dirty="0">
              <a:latin typeface="Times New Roman" panose="02020603050405020304" charset="0"/>
              <a:cs typeface="Times New Roman" panose="02020603050405020304" charset="0"/>
            </a:endParaRPr>
          </a:p>
          <a:p>
            <a:pPr marL="0" indent="0">
              <a:buNone/>
            </a:pPr>
            <a:endParaRPr lang="en-US" altLang="en-US" sz="1800" dirty="0">
              <a:latin typeface="Times New Roman" panose="02020603050405020304" charset="0"/>
              <a:cs typeface="Times New Roman" panose="02020603050405020304" charset="0"/>
            </a:endParaRPr>
          </a:p>
        </p:txBody>
      </p:sp>
      <p:sp>
        <p:nvSpPr>
          <p:cNvPr id="1048677" name="Slide Number Placeholder 20"/>
          <p:cNvSpPr>
            <a:spLocks noGrp="1"/>
          </p:cNvSpPr>
          <p:nvPr>
            <p:ph type="sldNum" sz="quarter" idx="12"/>
          </p:nvPr>
        </p:nvSpPr>
        <p:spPr/>
        <p:txBody>
          <a:bodyPr/>
          <a:lstStyle/>
          <a:p>
            <a:fld id="{2A2D4643-A560-41CA-9262-83B50CB01BF4}" type="slidenum">
              <a:rPr lang="en-IN" smtClean="0">
                <a:solidFill>
                  <a:prstClr val="black">
                    <a:tint val="75000"/>
                  </a:prstClr>
                </a:solidFill>
              </a:rPr>
            </a:fld>
            <a:endParaRPr lang="en-IN">
              <a:solidFill>
                <a:prstClr val="black">
                  <a:tint val="75000"/>
                </a:prstClr>
              </a:solidFill>
            </a:endParaRPr>
          </a:p>
        </p:txBody>
      </p:sp>
      <p:sp>
        <p:nvSpPr>
          <p:cNvPr id="1048678" name="Rectangle 18"/>
          <p:cNvSpPr/>
          <p:nvPr/>
        </p:nvSpPr>
        <p:spPr>
          <a:xfrm>
            <a:off x="2971800" y="152400"/>
            <a:ext cx="4419600" cy="523220"/>
          </a:xfrm>
          <a:prstGeom prst="rect">
            <a:avLst/>
          </a:prstGeom>
        </p:spPr>
        <p:txBody>
          <a:bodyPr wrap="square">
            <a:spAutoFit/>
          </a:bodyPr>
          <a:lstStyle/>
          <a:p>
            <a:pPr algn="ctr"/>
            <a:r>
              <a:rPr lang="en-IN" sz="2800" b="1" dirty="0">
                <a:latin typeface="Times New Roman" panose="02020603050405020304" charset="0"/>
                <a:cs typeface="Times New Roman" panose="02020603050405020304" charset="0"/>
              </a:rPr>
              <a:t>INTRODUCTION</a:t>
            </a:r>
            <a:endParaRPr lang="en-IN" sz="2800" b="1"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Table 5"/>
          <p:cNvGraphicFramePr>
            <a:graphicFrameLocks noGrp="1"/>
          </p:cNvGraphicFramePr>
          <p:nvPr>
            <p:custDataLst>
              <p:tags r:id="rId1"/>
            </p:custDataLst>
          </p:nvPr>
        </p:nvGraphicFramePr>
        <p:xfrm>
          <a:off x="228600" y="914400"/>
          <a:ext cx="8839200" cy="5440680"/>
        </p:xfrm>
        <a:graphic>
          <a:graphicData uri="http://schemas.openxmlformats.org/drawingml/2006/table">
            <a:tbl>
              <a:tblPr>
                <a:tableStyleId>{5940675A-B579-460E-94D1-54222C63F5DA}</a:tableStyleId>
              </a:tblPr>
              <a:tblGrid>
                <a:gridCol w="2152650"/>
                <a:gridCol w="2218690"/>
                <a:gridCol w="2239010"/>
                <a:gridCol w="2228850"/>
              </a:tblGrid>
              <a:tr h="259080">
                <a:tc>
                  <a:txBody>
                    <a:bodyPr/>
                    <a:lstStyle/>
                    <a:p>
                      <a:pPr>
                        <a:buNone/>
                      </a:pPr>
                      <a:r>
                        <a:rPr lang="en-US" sz="1400" b="1" dirty="0"/>
                        <a:t>Author &amp; Year</a:t>
                      </a:r>
                      <a:endParaRPr lang="en-US" sz="1400" b="1" dirty="0"/>
                    </a:p>
                  </a:txBody>
                  <a:tcPr marL="45717" marR="45717" marT="22858" marB="22858" anchor="ctr"/>
                </a:tc>
                <a:tc>
                  <a:txBody>
                    <a:bodyPr/>
                    <a:lstStyle/>
                    <a:p>
                      <a:pPr>
                        <a:buNone/>
                      </a:pPr>
                      <a:r>
                        <a:rPr lang="en-US" sz="1400" b="1"/>
                        <a:t>Method Used</a:t>
                      </a:r>
                      <a:endParaRPr lang="en-US" sz="1400" b="1"/>
                    </a:p>
                  </a:txBody>
                  <a:tcPr marL="45717" marR="45717" marT="22858" marB="22858" anchor="ctr"/>
                </a:tc>
                <a:tc>
                  <a:txBody>
                    <a:bodyPr/>
                    <a:lstStyle/>
                    <a:p>
                      <a:pPr>
                        <a:buNone/>
                      </a:pPr>
                      <a:r>
                        <a:rPr lang="en-US" sz="1400" b="1" dirty="0"/>
                        <a:t>Key Contribution</a:t>
                      </a:r>
                      <a:endParaRPr lang="en-US" sz="1400" b="1" dirty="0"/>
                    </a:p>
                  </a:txBody>
                  <a:tcPr marL="45717" marR="45717" marT="22858" marB="22858" anchor="ctr"/>
                </a:tc>
                <a:tc>
                  <a:txBody>
                    <a:bodyPr/>
                    <a:lstStyle/>
                    <a:p>
                      <a:pPr>
                        <a:buNone/>
                      </a:pPr>
                      <a:r>
                        <a:rPr lang="en-US" sz="1400" b="1" dirty="0"/>
                        <a:t>Limitation</a:t>
                      </a:r>
                      <a:endParaRPr lang="en-US" sz="1400" b="1" dirty="0"/>
                    </a:p>
                  </a:txBody>
                  <a:tcPr marL="45717" marR="45717" marT="22858" marB="22858" anchor="ctr"/>
                </a:tc>
              </a:tr>
              <a:tr h="899160">
                <a:tc>
                  <a:txBody>
                    <a:bodyPr/>
                    <a:lstStyle/>
                    <a:p>
                      <a:pPr>
                        <a:buNone/>
                      </a:pPr>
                      <a:r>
                        <a:rPr lang="en-US" altLang="en-US" sz="1400" dirty="0"/>
                        <a:t>S. Gandharv, V. Richhariya, &amp; V. Richhariya (2017)</a:t>
                      </a:r>
                      <a:endParaRPr lang="en-US" altLang="en-US" sz="1400" dirty="0"/>
                    </a:p>
                  </a:txBody>
                  <a:tcPr marL="45717" marR="45717" marT="22858" marB="22858" anchor="ctr"/>
                </a:tc>
                <a:tc>
                  <a:txBody>
                    <a:bodyPr/>
                    <a:lstStyle/>
                    <a:p>
                      <a:pPr>
                        <a:buNone/>
                      </a:pPr>
                      <a:r>
                        <a:rPr lang="en-US" altLang="en-US" sz="1400" dirty="0"/>
                        <a:t>Foundational text mining and real-time ingestion logic for Twitter streams.</a:t>
                      </a:r>
                      <a:endParaRPr lang="en-US" altLang="en-US" sz="1400" dirty="0"/>
                    </a:p>
                  </a:txBody>
                  <a:tcPr marL="45717" marR="45717" marT="22858" marB="22858" anchor="ctr"/>
                </a:tc>
                <a:tc>
                  <a:txBody>
                    <a:bodyPr/>
                    <a:lstStyle/>
                    <a:p>
                      <a:pPr>
                        <a:buNone/>
                      </a:pPr>
                      <a:r>
                        <a:rPr lang="en-US" altLang="en-US" sz="1400" dirty="0"/>
                        <a:t>Established the architectural logic for real-time streaming ingestion during active disasters.</a:t>
                      </a:r>
                      <a:endParaRPr lang="en-US" altLang="en-US" sz="1400" dirty="0"/>
                    </a:p>
                  </a:txBody>
                  <a:tcPr marL="45717" marR="45717" marT="22858" marB="22858" anchor="ctr"/>
                </a:tc>
                <a:tc>
                  <a:txBody>
                    <a:bodyPr/>
                    <a:lstStyle/>
                    <a:p>
                      <a:pPr>
                        <a:buNone/>
                      </a:pPr>
                      <a:r>
                        <a:rPr lang="en-US" altLang="en-US" sz="1400"/>
                        <a:t>Primarily focused on text mining; lacks support for visual/multimodal data.</a:t>
                      </a:r>
                      <a:endParaRPr lang="en-US" altLang="en-US" sz="1400"/>
                    </a:p>
                  </a:txBody>
                  <a:tcPr marL="45717" marR="45717" marT="22858" marB="22858" anchor="ctr"/>
                </a:tc>
              </a:tr>
              <a:tr h="899160">
                <a:tc>
                  <a:txBody>
                    <a:bodyPr/>
                    <a:lstStyle/>
                    <a:p>
                      <a:pPr>
                        <a:buNone/>
                      </a:pPr>
                      <a:r>
                        <a:rPr lang="en-US" altLang="en-US" sz="1400"/>
                        <a:t>J. Devlin, M. -W. Chang, K. Lee, &amp; K. Toutanova (2019)</a:t>
                      </a:r>
                      <a:endParaRPr lang="en-US" altLang="en-US" sz="1400"/>
                    </a:p>
                  </a:txBody>
                  <a:tcPr marL="45717" marR="45717" marT="22858" marB="22858" anchor="ctr"/>
                </a:tc>
                <a:tc>
                  <a:txBody>
                    <a:bodyPr/>
                    <a:lstStyle/>
                    <a:p>
                      <a:pPr>
                        <a:buNone/>
                      </a:pPr>
                      <a:r>
                        <a:rPr lang="en-US" altLang="en-US" sz="1400" dirty="0"/>
                        <a:t>BERT (Bidirectional Encoder Representations from Transformers).</a:t>
                      </a:r>
                      <a:endParaRPr lang="en-US" altLang="en-US" sz="1400" dirty="0"/>
                    </a:p>
                  </a:txBody>
                  <a:tcPr marL="45717" marR="45717" marT="22858" marB="22858" anchor="ctr"/>
                </a:tc>
                <a:tc>
                  <a:txBody>
                    <a:bodyPr/>
                    <a:lstStyle/>
                    <a:p>
                      <a:pPr>
                        <a:buNone/>
                      </a:pPr>
                      <a:r>
                        <a:rPr lang="en-US" altLang="en-US" sz="1400"/>
                        <a:t>Revolutionized NLP by capturing bidirectional context to extract deep semantic intent from tweets.</a:t>
                      </a:r>
                      <a:endParaRPr lang="en-US" altLang="en-US" sz="1400"/>
                    </a:p>
                  </a:txBody>
                  <a:tcPr marL="45717" marR="45717" marT="22858" marB="22858" anchor="ctr"/>
                </a:tc>
                <a:tc>
                  <a:txBody>
                    <a:bodyPr/>
                    <a:lstStyle/>
                    <a:p>
                      <a:pPr>
                        <a:buNone/>
                      </a:pPr>
                      <a:r>
                        <a:rPr lang="en-US" altLang="en-US" sz="1400"/>
                        <a:t>Purely text-based model; ignores complementary visual evidence from images.</a:t>
                      </a:r>
                      <a:endParaRPr lang="en-US" altLang="en-US" sz="1400"/>
                    </a:p>
                  </a:txBody>
                  <a:tcPr marL="45717" marR="45717" marT="22858" marB="22858" anchor="ctr"/>
                </a:tc>
              </a:tr>
              <a:tr h="899160">
                <a:tc>
                  <a:txBody>
                    <a:bodyPr/>
                    <a:lstStyle/>
                    <a:p>
                      <a:pPr>
                        <a:buNone/>
                      </a:pPr>
                      <a:r>
                        <a:rPr lang="en-US" altLang="en-US" sz="1400"/>
                        <a:t>S. Singhal, R. R. Shah, et al. (2019)</a:t>
                      </a:r>
                      <a:endParaRPr lang="en-US" altLang="en-US" sz="1400"/>
                    </a:p>
                  </a:txBody>
                  <a:tcPr marL="45717" marR="45717" marT="22858" marB="22858" anchor="ctr"/>
                </a:tc>
                <a:tc>
                  <a:txBody>
                    <a:bodyPr/>
                    <a:lstStyle/>
                    <a:p>
                      <a:pPr>
                        <a:buNone/>
                      </a:pPr>
                      <a:r>
                        <a:rPr lang="en-US" altLang="en-US" sz="1400"/>
                        <a:t>Multimodal late fusion using VGG-19 for images and traditional text models.</a:t>
                      </a:r>
                      <a:endParaRPr lang="en-US" altLang="en-US" sz="1400"/>
                    </a:p>
                  </a:txBody>
                  <a:tcPr marL="45717" marR="45717" marT="22858" marB="22858" anchor="ctr"/>
                </a:tc>
                <a:tc>
                  <a:txBody>
                    <a:bodyPr/>
                    <a:lstStyle/>
                    <a:p>
                      <a:pPr>
                        <a:buNone/>
                      </a:pPr>
                      <a:r>
                        <a:rPr lang="en-US" altLang="en-US" sz="1400" dirty="0"/>
                        <a:t>One of the first frameworks to combine text and images for detecting misinformation.</a:t>
                      </a:r>
                      <a:endParaRPr lang="en-US" altLang="en-US" sz="1400" dirty="0"/>
                    </a:p>
                  </a:txBody>
                  <a:tcPr marL="45717" marR="45717" marT="22858" marB="22858" anchor="ctr"/>
                </a:tc>
                <a:tc>
                  <a:txBody>
                    <a:bodyPr/>
                    <a:lstStyle/>
                    <a:p>
                      <a:pPr>
                        <a:buNone/>
                      </a:pPr>
                      <a:r>
                        <a:rPr lang="en-US" altLang="en-US" sz="1400"/>
                        <a:t>Uses older CNN models (VGG-19) which lack the spatial extraction power of ViT.</a:t>
                      </a:r>
                      <a:endParaRPr lang="en-US" altLang="en-US" sz="1400"/>
                    </a:p>
                  </a:txBody>
                  <a:tcPr marL="45717" marR="45717" marT="22858" marB="22858" anchor="ctr"/>
                </a:tc>
              </a:tr>
              <a:tr h="685800">
                <a:tc>
                  <a:txBody>
                    <a:bodyPr/>
                    <a:lstStyle/>
                    <a:p>
                      <a:pPr>
                        <a:buNone/>
                      </a:pPr>
                      <a:r>
                        <a:rPr lang="en-US" altLang="en-US" sz="1400"/>
                        <a:t>F. Alam, F. Ofli, &amp; M. Imran (2018)</a:t>
                      </a:r>
                      <a:endParaRPr lang="en-US" altLang="en-US" sz="1400"/>
                    </a:p>
                  </a:txBody>
                  <a:tcPr marL="45717" marR="45717" marT="22858" marB="22858" anchor="ctr"/>
                </a:tc>
                <a:tc>
                  <a:txBody>
                    <a:bodyPr/>
                    <a:lstStyle/>
                    <a:p>
                      <a:pPr>
                        <a:buNone/>
                      </a:pPr>
                      <a:r>
                        <a:rPr lang="en-US" altLang="en-US" sz="1400"/>
                        <a:t>Annotation and labeling methodology for multimodal datasets.</a:t>
                      </a:r>
                      <a:endParaRPr lang="en-US" altLang="en-US" sz="1400"/>
                    </a:p>
                  </a:txBody>
                  <a:tcPr marL="45717" marR="45717" marT="22858" marB="22858" anchor="ctr"/>
                </a:tc>
                <a:tc>
                  <a:txBody>
                    <a:bodyPr/>
                    <a:lstStyle/>
                    <a:p>
                      <a:pPr>
                        <a:buNone/>
                      </a:pPr>
                      <a:r>
                        <a:rPr lang="en-US" altLang="en-US" sz="1400" dirty="0"/>
                        <a:t>Provided CrisisMMD, a large-scale benchmark for training disaster-related AI models.</a:t>
                      </a:r>
                      <a:endParaRPr lang="en-US" altLang="en-US" sz="1400" dirty="0"/>
                    </a:p>
                  </a:txBody>
                  <a:tcPr marL="45717" marR="45717" marT="22858" marB="22858" anchor="ctr"/>
                </a:tc>
                <a:tc>
                  <a:txBody>
                    <a:bodyPr/>
                    <a:lstStyle/>
                    <a:p>
                      <a:pPr>
                        <a:buNone/>
                      </a:pPr>
                      <a:r>
                        <a:rPr lang="en-US" altLang="en-US" sz="1400"/>
                        <a:t>Focused on static datasets; does not address real-time streaming latency.</a:t>
                      </a:r>
                      <a:endParaRPr lang="en-US" altLang="en-US" sz="1400"/>
                    </a:p>
                  </a:txBody>
                  <a:tcPr marL="45717" marR="45717" marT="22858" marB="22858" anchor="ctr"/>
                </a:tc>
              </a:tr>
              <a:tr h="899160">
                <a:tc>
                  <a:txBody>
                    <a:bodyPr/>
                    <a:lstStyle/>
                    <a:p>
                      <a:pPr>
                        <a:buNone/>
                      </a:pPr>
                      <a:r>
                        <a:rPr lang="en-US" altLang="en-US" sz="1400"/>
                        <a:t>R. Koshy &amp; S. Elango (2022)</a:t>
                      </a:r>
                      <a:endParaRPr lang="en-US" altLang="en-US" sz="1400"/>
                    </a:p>
                  </a:txBody>
                  <a:tcPr marL="45717" marR="45717" marT="22858" marB="22858" anchor="ctr"/>
                </a:tc>
                <a:tc>
                  <a:txBody>
                    <a:bodyPr/>
                    <a:lstStyle/>
                    <a:p>
                      <a:pPr>
                        <a:buNone/>
                      </a:pPr>
                      <a:r>
                        <a:rPr lang="en-US" altLang="en-US" sz="1400"/>
                        <a:t>Transformer-based bidirectional attention model.</a:t>
                      </a:r>
                      <a:endParaRPr lang="en-US" altLang="en-US" sz="1400"/>
                    </a:p>
                  </a:txBody>
                  <a:tcPr marL="45717" marR="45717" marT="22858" marB="22858" anchor="ctr"/>
                </a:tc>
                <a:tc>
                  <a:txBody>
                    <a:bodyPr/>
                    <a:lstStyle/>
                    <a:p>
                      <a:pPr>
                        <a:buNone/>
                      </a:pPr>
                      <a:r>
                        <a:rPr lang="en-US" altLang="en-US" sz="1400"/>
                        <a:t>Improved classification by modeling the inter-modality relationships between text and images.</a:t>
                      </a:r>
                      <a:endParaRPr lang="en-US" altLang="en-US" sz="1400"/>
                    </a:p>
                  </a:txBody>
                  <a:tcPr marL="45717" marR="45717" marT="22858" marB="22858" anchor="ctr"/>
                </a:tc>
                <a:tc>
                  <a:txBody>
                    <a:bodyPr/>
                    <a:lstStyle/>
                    <a:p>
                      <a:pPr>
                        <a:buNone/>
                      </a:pPr>
                      <a:r>
                        <a:rPr lang="en-US" altLang="en-US" sz="1400"/>
                        <a:t>Lacks a unified multi-task pipeline for concurrent misinformation detection.</a:t>
                      </a:r>
                      <a:endParaRPr lang="en-US" altLang="en-US" sz="1400"/>
                    </a:p>
                  </a:txBody>
                  <a:tcPr marL="45717" marR="45717" marT="22858" marB="22858" anchor="ctr"/>
                </a:tc>
              </a:tr>
              <a:tr h="899160">
                <a:tc>
                  <a:txBody>
                    <a:bodyPr/>
                    <a:lstStyle/>
                    <a:p>
                      <a:pPr>
                        <a:buNone/>
                      </a:pPr>
                      <a:r>
                        <a:rPr lang="en-US" altLang="en-US" sz="1400" dirty="0"/>
                        <a:t>P. Liu, W. Qian, D. Xu, et al. (2023)</a:t>
                      </a:r>
                      <a:endParaRPr lang="en-US" altLang="en-US" sz="1400" dirty="0"/>
                    </a:p>
                  </a:txBody>
                  <a:tcPr marL="45717" marR="45717" marT="22858" marB="22858" anchor="ctr"/>
                </a:tc>
                <a:tc>
                  <a:txBody>
                    <a:bodyPr/>
                    <a:lstStyle/>
                    <a:p>
                      <a:pPr>
                        <a:buNone/>
                      </a:pPr>
                      <a:r>
                        <a:rPr lang="en-US" altLang="en-US" sz="1400"/>
                        <a:t>"Gap-bridging" approach measuring semantic alignment between modalities.</a:t>
                      </a:r>
                      <a:endParaRPr lang="en-US" altLang="en-US" sz="1400"/>
                    </a:p>
                  </a:txBody>
                  <a:tcPr marL="45717" marR="45717" marT="22858" marB="22858" anchor="ctr"/>
                </a:tc>
                <a:tc>
                  <a:txBody>
                    <a:bodyPr/>
                    <a:lstStyle/>
                    <a:p>
                      <a:pPr>
                        <a:buNone/>
                      </a:pPr>
                      <a:r>
                        <a:rPr lang="en-US" altLang="en-US" sz="1400"/>
                        <a:t>Highlighted the importance of cross-modal consistency to detect deceptive media.</a:t>
                      </a:r>
                      <a:endParaRPr lang="en-US" altLang="en-US" sz="1400"/>
                    </a:p>
                  </a:txBody>
                  <a:tcPr marL="45717" marR="45717" marT="22858" marB="22858" anchor="ctr"/>
                </a:tc>
                <a:tc>
                  <a:txBody>
                    <a:bodyPr/>
                    <a:lstStyle/>
                    <a:p>
                      <a:pPr>
                        <a:buNone/>
                      </a:pPr>
                      <a:r>
                        <a:rPr lang="en-US" altLang="en-US" sz="1400" dirty="0"/>
                        <a:t>lacks scalable integration for high-volume streaming data (30+ tweets/sec).</a:t>
                      </a:r>
                      <a:endParaRPr lang="en-US" altLang="en-US" sz="1400" dirty="0"/>
                    </a:p>
                  </a:txBody>
                  <a:tcPr marL="45717" marR="45717" marT="22858" marB="22858"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60" name="Ink 59"/>
              <p14:cNvContentPartPr/>
              <p14:nvPr/>
            </p14:nvContentPartPr>
            <p14:xfrm>
              <a:off x="-2216708" y="1371522"/>
              <a:ext cx="360" cy="360"/>
            </p14:xfrm>
          </p:contentPart>
        </mc:Choice>
        <mc:Fallback xmlns="">
          <p:pic>
            <p:nvPicPr>
              <p:cNvPr id="60" name="Ink 59"/>
            </p:nvPicPr>
            <p:blipFill>
              <a:blip r:embed="rId2"/>
            </p:blipFill>
            <p:spPr>
              <a:xfrm>
                <a:off x="-2216708" y="1371522"/>
                <a:ext cx="360" cy="360"/>
              </a:xfrm>
              <a:prstGeom prst="rect"/>
            </p:spPr>
          </p:pic>
        </mc:Fallback>
      </mc:AlternateContent>
      <p:sp>
        <p:nvSpPr>
          <p:cNvPr id="22" name="Rectangle 20"/>
          <p:cNvSpPr/>
          <p:nvPr/>
        </p:nvSpPr>
        <p:spPr>
          <a:xfrm>
            <a:off x="2707675" y="147935"/>
            <a:ext cx="6054863" cy="461665"/>
          </a:xfrm>
          <a:prstGeom prst="rect">
            <a:avLst/>
          </a:prstGeom>
        </p:spPr>
        <p:txBody>
          <a:bodyPr wrap="none" lIns="91440" tIns="45720" rIns="91440" bIns="45720" anchor="t">
            <a:spAutoFit/>
          </a:bodyPr>
          <a:lstStyle/>
          <a:p>
            <a:pPr algn="ctr" fontAlgn="auto">
              <a:spcBef>
                <a:spcPts val="0"/>
              </a:spcBef>
              <a:spcAft>
                <a:spcPts val="0"/>
              </a:spcAft>
            </a:pPr>
            <a:r>
              <a:rPr lang="en-US" sz="2400" b="1" cap="all" dirty="0">
                <a:latin typeface="Times New Roman" panose="02020603050405020304" charset="0"/>
                <a:cs typeface="Times New Roman" panose="02020603050405020304" charset="0"/>
              </a:rPr>
              <a:t>Existing System </a:t>
            </a:r>
            <a:r>
              <a:rPr lang="en-US" sz="2400" b="1" cap="all" dirty="0" smtClean="0">
                <a:latin typeface="Times New Roman" panose="02020603050405020304" charset="0"/>
                <a:cs typeface="Times New Roman" panose="02020603050405020304" charset="0"/>
              </a:rPr>
              <a:t>&amp; Disadvantages</a:t>
            </a:r>
            <a:endParaRPr lang="en-US" sz="2400" b="1" cap="all" dirty="0">
              <a:latin typeface="Times New Roman" panose="02020603050405020304" charset="0"/>
              <a:cs typeface="Times New Roman" panose="02020603050405020304" charset="0"/>
            </a:endParaRPr>
          </a:p>
        </p:txBody>
      </p:sp>
      <p:sp>
        <p:nvSpPr>
          <p:cNvPr id="4" name="Rectangle 2"/>
          <p:cNvSpPr>
            <a:spLocks noChangeArrowheads="1"/>
          </p:cNvSpPr>
          <p:nvPr/>
        </p:nvSpPr>
        <p:spPr bwMode="auto">
          <a:xfrm>
            <a:off x="685800" y="1419255"/>
            <a:ext cx="7772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smtClean="0">
                <a:latin typeface="Times New Roman" panose="02020603050405020304" charset="0"/>
                <a:cs typeface="Times New Roman" panose="02020603050405020304" charset="0"/>
              </a:rPr>
              <a:t>Existing </a:t>
            </a:r>
            <a:r>
              <a:rPr lang="en-US" b="1" dirty="0">
                <a:latin typeface="Times New Roman" panose="02020603050405020304" charset="0"/>
                <a:cs typeface="Times New Roman" panose="02020603050405020304" charset="0"/>
              </a:rPr>
              <a:t>System:</a:t>
            </a:r>
            <a:r>
              <a:rPr lang="en-US" dirty="0">
                <a:latin typeface="Times New Roman" panose="02020603050405020304" charset="0"/>
                <a:cs typeface="Times New Roman" panose="02020603050405020304" charset="0"/>
              </a:rPr>
              <a:t> Most current approaches rely on traditional Machine Learning or simple Deep Learning (CNN/LSTM) using </a:t>
            </a:r>
            <a:r>
              <a:rPr lang="en-US" b="1" dirty="0">
                <a:latin typeface="Times New Roman" panose="02020603050405020304" charset="0"/>
                <a:cs typeface="Times New Roman" panose="02020603050405020304" charset="0"/>
              </a:rPr>
              <a:t>text-only</a:t>
            </a:r>
            <a:r>
              <a:rPr lang="en-US" dirty="0">
                <a:latin typeface="Times New Roman" panose="02020603050405020304" charset="0"/>
                <a:cs typeface="Times New Roman" panose="02020603050405020304" charset="0"/>
              </a:rPr>
              <a:t> (unimodal) data</a:t>
            </a:r>
            <a:r>
              <a:rPr lang="en-US" dirty="0" smtClean="0">
                <a:latin typeface="Times New Roman" panose="02020603050405020304" charset="0"/>
                <a:cs typeface="Times New Roman" panose="02020603050405020304" charset="0"/>
              </a:rPr>
              <a:t>.</a:t>
            </a:r>
            <a:endParaRPr lang="en-US" dirty="0" smtClean="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b="1" dirty="0">
                <a:latin typeface="Times New Roman" panose="02020603050405020304" charset="0"/>
                <a:cs typeface="Times New Roman" panose="02020603050405020304" charset="0"/>
              </a:rPr>
              <a:t>Disadvantages:</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Ignores Visual Evidence:</a:t>
            </a:r>
            <a:r>
              <a:rPr lang="en-US" dirty="0">
                <a:latin typeface="Times New Roman" panose="02020603050405020304" charset="0"/>
                <a:cs typeface="Times New Roman" panose="02020603050405020304" charset="0"/>
              </a:rPr>
              <a:t> Fails to use the rich information found in images.</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High Latency:</a:t>
            </a:r>
            <a:r>
              <a:rPr lang="en-US" dirty="0">
                <a:latin typeface="Times New Roman" panose="02020603050405020304" charset="0"/>
                <a:cs typeface="Times New Roman" panose="02020603050405020304" charset="0"/>
              </a:rPr>
              <a:t> Models are often too "heavy" for real-time deployment.</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Vulnerability to Misinformation:</a:t>
            </a:r>
            <a:r>
              <a:rPr lang="en-US" dirty="0">
                <a:latin typeface="Times New Roman" panose="02020603050405020304" charset="0"/>
                <a:cs typeface="Times New Roman" panose="02020603050405020304" charset="0"/>
              </a:rPr>
              <a:t> Cannot detect "mismatches" where the text claims a disaster but the image is unrelated.</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Poor Generalization:</a:t>
            </a:r>
            <a:r>
              <a:rPr lang="en-US" dirty="0">
                <a:latin typeface="Times New Roman" panose="02020603050405020304" charset="0"/>
                <a:cs typeface="Times New Roman" panose="02020603050405020304" charset="0"/>
              </a:rPr>
              <a:t> These models struggle to adapt to new types of disasters they weren't specifically trained on.</a:t>
            </a:r>
            <a:endParaRPr lang="en-US"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Slide Number Placeholder 3"/>
          <p:cNvSpPr>
            <a:spLocks noGrp="1"/>
          </p:cNvSpPr>
          <p:nvPr>
            <p:ph type="sldNum" sz="quarter" idx="12"/>
          </p:nvPr>
        </p:nvSpPr>
        <p:spPr/>
        <p:txBody>
          <a:bodyPr/>
          <a:lstStyle/>
          <a:p>
            <a:fld id="{D8278AF2-EEAB-4E16-B9F6-8261A3C88013}" type="slidenum">
              <a:rPr lang="en-US">
                <a:solidFill>
                  <a:prstClr val="black">
                    <a:tint val="75000"/>
                  </a:prstClr>
                </a:solidFill>
              </a:rPr>
            </a:fld>
            <a:endParaRPr lang="en-US">
              <a:solidFill>
                <a:prstClr val="black">
                  <a:tint val="75000"/>
                </a:prstClr>
              </a:solidFill>
            </a:endParaRPr>
          </a:p>
        </p:txBody>
      </p:sp>
      <p:sp>
        <p:nvSpPr>
          <p:cNvPr id="2" name="Rectangle 1"/>
          <p:cNvSpPr>
            <a:spLocks noChangeArrowheads="1"/>
          </p:cNvSpPr>
          <p:nvPr/>
        </p:nvSpPr>
        <p:spPr bwMode="auto">
          <a:xfrm>
            <a:off x="3200400" y="137754"/>
            <a:ext cx="769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effectLst/>
                <a:latin typeface="Times New Roman" panose="02020603050405020304" charset="0"/>
                <a:cs typeface="Times New Roman" panose="02020603050405020304" charset="0"/>
              </a:rPr>
              <a:t>PROPOSED SYSTEM</a:t>
            </a:r>
            <a:endParaRPr kumimoji="0" lang="en-US" altLang="en-US" sz="2400" b="1" i="0" u="none" strike="noStrike" cap="none" normalizeH="0" baseline="0" dirty="0">
              <a:ln>
                <a:noFill/>
              </a:ln>
              <a:effectLst/>
              <a:latin typeface="Times New Roman" panose="02020603050405020304" charset="0"/>
              <a:cs typeface="Times New Roman" panose="02020603050405020304" charset="0"/>
            </a:endParaRPr>
          </a:p>
        </p:txBody>
      </p:sp>
      <p:sp>
        <p:nvSpPr>
          <p:cNvPr id="5" name="Rectangle 2"/>
          <p:cNvSpPr>
            <a:spLocks noChangeArrowheads="1"/>
          </p:cNvSpPr>
          <p:nvPr/>
        </p:nvSpPr>
        <p:spPr bwMode="auto">
          <a:xfrm>
            <a:off x="381000" y="1634696"/>
            <a:ext cx="82677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Multimodal </a:t>
            </a:r>
            <a:r>
              <a:rPr lang="en-US" altLang="en-US" b="1" dirty="0">
                <a:latin typeface="Times New Roman" panose="02020603050405020304" charset="0"/>
                <a:cs typeface="Times New Roman" panose="02020603050405020304" charset="0"/>
              </a:rPr>
              <a:t>Learning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Combines </a:t>
            </a:r>
            <a:r>
              <a:rPr lang="en-US" altLang="en-US" dirty="0">
                <a:latin typeface="Times New Roman" panose="02020603050405020304" charset="0"/>
                <a:cs typeface="Times New Roman" panose="02020603050405020304" charset="0"/>
              </a:rPr>
              <a:t>both text and image data for better </a:t>
            </a:r>
            <a:r>
              <a:rPr lang="en-US" altLang="en-US" dirty="0" smtClean="0">
                <a:latin typeface="Times New Roman" panose="02020603050405020304" charset="0"/>
                <a:cs typeface="Times New Roman" panose="02020603050405020304" charset="0"/>
              </a:rPr>
              <a:t>understanding</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Transformer-Based </a:t>
            </a:r>
            <a:r>
              <a:rPr lang="en-US" altLang="en-US" b="1" dirty="0">
                <a:latin typeface="Times New Roman" panose="02020603050405020304" charset="0"/>
                <a:cs typeface="Times New Roman" panose="02020603050405020304" charset="0"/>
              </a:rPr>
              <a:t>Text Analysis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models like BERT / </a:t>
            </a:r>
            <a:r>
              <a:rPr lang="en-US" altLang="en-US" dirty="0" err="1">
                <a:latin typeface="Times New Roman" panose="02020603050405020304" charset="0"/>
                <a:cs typeface="Times New Roman" panose="02020603050405020304" charset="0"/>
              </a:rPr>
              <a:t>RoBERTa</a:t>
            </a:r>
            <a:r>
              <a:rPr lang="en-US" altLang="en-US" dirty="0">
                <a:latin typeface="Times New Roman" panose="02020603050405020304" charset="0"/>
                <a:cs typeface="Times New Roman" panose="02020603050405020304" charset="0"/>
              </a:rPr>
              <a:t> for accurate semantic extraction</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Image </a:t>
            </a:r>
            <a:r>
              <a:rPr lang="en-US" altLang="en-US" b="1" dirty="0">
                <a:latin typeface="Times New Roman" panose="02020603050405020304" charset="0"/>
                <a:cs typeface="Times New Roman" panose="02020603050405020304" charset="0"/>
              </a:rPr>
              <a:t>Feature Extraction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CNN models (</a:t>
            </a:r>
            <a:r>
              <a:rPr lang="en-US" altLang="en-US" dirty="0" err="1">
                <a:latin typeface="Times New Roman" panose="02020603050405020304" charset="0"/>
                <a:cs typeface="Times New Roman" panose="02020603050405020304" charset="0"/>
              </a:rPr>
              <a:t>ResNet</a:t>
            </a:r>
            <a:r>
              <a:rPr lang="en-US" altLang="en-US" dirty="0">
                <a:latin typeface="Times New Roman" panose="02020603050405020304" charset="0"/>
                <a:cs typeface="Times New Roman" panose="02020603050405020304" charset="0"/>
              </a:rPr>
              <a:t>/VGG) to analyze disaster-related images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Real-Time Processing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Classifies </a:t>
            </a:r>
            <a:r>
              <a:rPr lang="en-US" altLang="en-US" dirty="0">
                <a:latin typeface="Times New Roman" panose="02020603050405020304" charset="0"/>
                <a:cs typeface="Times New Roman" panose="02020603050405020304" charset="0"/>
              </a:rPr>
              <a:t>tweets instantly from live social media streams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Transfer Learning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knowledge from past disasters to handle new </a:t>
            </a:r>
            <a:r>
              <a:rPr lang="en-US" altLang="en-US" dirty="0" smtClean="0">
                <a:latin typeface="Times New Roman" panose="02020603050405020304" charset="0"/>
                <a:cs typeface="Times New Roman" panose="02020603050405020304" charset="0"/>
              </a:rPr>
              <a:t>events</a:t>
            </a:r>
            <a:endParaRPr lang="en-US" altLang="en-US"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Misinformation Detection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Identifies </a:t>
            </a:r>
            <a:r>
              <a:rPr lang="en-US" altLang="en-US" dirty="0">
                <a:latin typeface="Times New Roman" panose="02020603050405020304" charset="0"/>
                <a:cs typeface="Times New Roman" panose="02020603050405020304" charset="0"/>
              </a:rPr>
              <a:t>fake or misleading tweets</a:t>
            </a:r>
            <a:endParaRPr lang="en-US" altLang="en-US" dirty="0">
              <a:latin typeface="Times New Roman" panose="02020603050405020304" charset="0"/>
              <a:cs typeface="Times New Roman" panose="02020603050405020304" charset="0"/>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962400" y="228600"/>
            <a:ext cx="3048000" cy="368300"/>
          </a:xfrm>
          <a:prstGeom prst="rect">
            <a:avLst/>
          </a:prstGeom>
          <a:noFill/>
        </p:spPr>
        <p:txBody>
          <a:bodyPr wrap="square" rtlCol="0">
            <a:spAutoFit/>
          </a:bodyPr>
          <a:p>
            <a:r>
              <a:rPr lang="en-US" b="1"/>
              <a:t>ADVANTAGES</a:t>
            </a:r>
            <a:endParaRPr lang="en-US" b="1"/>
          </a:p>
        </p:txBody>
      </p:sp>
      <p:sp>
        <p:nvSpPr>
          <p:cNvPr id="5" name="Text Box 4"/>
          <p:cNvSpPr txBox="1"/>
          <p:nvPr/>
        </p:nvSpPr>
        <p:spPr>
          <a:xfrm>
            <a:off x="433705" y="1108075"/>
            <a:ext cx="8319770" cy="4025900"/>
          </a:xfrm>
          <a:prstGeom prst="rect">
            <a:avLst/>
          </a:prstGeom>
        </p:spPr>
        <p:txBody>
          <a:bodyPr wrap="square">
            <a:noAutofit/>
          </a:bodyPr>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Multimodal Learning: It combines both text and image data to achieve a better and more comprehensive understanding of social media posts.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Transformer-Based Text Analysis: The system utilizes advanced models like BERT / RoBERTa for highly accurate semantic extraction from text.</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Image Feature Extraction: It uses CNN models (such as ResNet or VGG) to specifically analyze and extract features from disaster-related images.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Real-Time Processing: The framework is designed to classify tweets instantly as they arrive from live social media streams.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Transfer Learning: It leverages knowledge and patterns learned from past disasters to effectively handle and classify new, unseen events.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Misinformation Detection: The system includes a layer to identify and filter out fake or misleading tweets to ensure data reliability.</a:t>
            </a:r>
            <a:endParaRPr sz="1600" b="0" i="0">
              <a:solidFill>
                <a:srgbClr val="2B2D31"/>
              </a:solidFill>
              <a:latin typeface="Times New Roman" panose="02020603050405020304" charset="0"/>
              <a:ea typeface="Inter"/>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Number Placeholder 3"/>
          <p:cNvSpPr>
            <a:spLocks noGrp="1"/>
          </p:cNvSpPr>
          <p:nvPr>
            <p:ph type="sldNum" sz="quarter" idx="12"/>
          </p:nvPr>
        </p:nvSpPr>
        <p:spPr>
          <a:xfrm>
            <a:off x="6324600" y="6996117"/>
            <a:ext cx="2133600" cy="365125"/>
          </a:xfrm>
        </p:spPr>
        <p:txBody>
          <a:bodyPr/>
          <a:lstStyle/>
          <a:p>
            <a:fld id="{D8278AF2-EEAB-4E16-B9F6-8261A3C88013}" type="slidenum">
              <a:rPr lang="en-US">
                <a:solidFill>
                  <a:prstClr val="black">
                    <a:tint val="75000"/>
                  </a:prstClr>
                </a:solidFill>
              </a:rPr>
            </a:fld>
            <a:endParaRPr lang="en-US">
              <a:solidFill>
                <a:prstClr val="black">
                  <a:tint val="75000"/>
                </a:prstClr>
              </a:solidFill>
            </a:endParaRPr>
          </a:p>
        </p:txBody>
      </p:sp>
      <p:sp>
        <p:nvSpPr>
          <p:cNvPr id="1048589" name="Rectangle 20"/>
          <p:cNvSpPr/>
          <p:nvPr/>
        </p:nvSpPr>
        <p:spPr>
          <a:xfrm>
            <a:off x="1673628" y="800099"/>
            <a:ext cx="6595780" cy="523220"/>
          </a:xfrm>
          <a:prstGeom prst="rect">
            <a:avLst/>
          </a:prstGeom>
        </p:spPr>
        <p:txBody>
          <a:bodyPr wrap="none">
            <a:spAutoFit/>
          </a:bodyPr>
          <a:lstStyle/>
          <a:p>
            <a:pPr algn="ctr" fontAlgn="auto">
              <a:spcBef>
                <a:spcPts val="0"/>
              </a:spcBef>
              <a:spcAft>
                <a:spcPts val="0"/>
              </a:spcAft>
            </a:pPr>
            <a:r>
              <a:rPr lang="en-US" sz="2800" b="1" cap="all" dirty="0">
                <a:solidFill>
                  <a:schemeClr val="bg1"/>
                </a:solidFill>
                <a:latin typeface="Arial Black" panose="020B0A04020102020204" pitchFamily="34" charset="0"/>
                <a:cs typeface="Aharoni" pitchFamily="2" charset="-79"/>
              </a:rPr>
              <a:t>     </a:t>
            </a:r>
            <a:r>
              <a:rPr lang="en-US" sz="2400" b="1" cap="all" dirty="0">
                <a:solidFill>
                  <a:schemeClr val="bg1"/>
                </a:solidFill>
                <a:latin typeface="Arial Black" panose="020B0A04020102020204" pitchFamily="34" charset="0"/>
                <a:cs typeface="Aharoni" pitchFamily="2" charset="-79"/>
              </a:rPr>
              <a:t>Proposed System Advantages</a:t>
            </a:r>
            <a:endParaRPr lang="en-US" sz="2400" b="1" cap="all" dirty="0">
              <a:solidFill>
                <a:schemeClr val="bg1"/>
              </a:solidFill>
              <a:latin typeface="Arial Black" panose="020B0A04020102020204" pitchFamily="34" charset="0"/>
              <a:cs typeface="Aharoni" pitchFamily="2" charset="-79"/>
            </a:endParaRPr>
          </a:p>
        </p:txBody>
      </p:sp>
      <p:sp>
        <p:nvSpPr>
          <p:cNvPr id="2" name="Rectangle 1"/>
          <p:cNvSpPr>
            <a:spLocks noChangeArrowheads="1"/>
          </p:cNvSpPr>
          <p:nvPr/>
        </p:nvSpPr>
        <p:spPr bwMode="auto">
          <a:xfrm>
            <a:off x="3200400" y="137754"/>
            <a:ext cx="769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effectLst/>
                <a:latin typeface="Times New Roman" panose="02020603050405020304" charset="0"/>
                <a:cs typeface="Times New Roman" panose="02020603050405020304" charset="0"/>
              </a:rPr>
              <a:t>ALGORITHMS</a:t>
            </a:r>
            <a:endParaRPr kumimoji="0" lang="en-US" altLang="en-US" sz="2400" b="1" i="0" u="none" strike="noStrike" cap="none" normalizeH="0" baseline="0" dirty="0">
              <a:ln>
                <a:noFill/>
              </a:ln>
              <a:effectLst/>
              <a:latin typeface="Times New Roman" panose="02020603050405020304" charset="0"/>
              <a:cs typeface="Times New Roman" panose="02020603050405020304" charset="0"/>
            </a:endParaRPr>
          </a:p>
        </p:txBody>
      </p:sp>
      <p:sp>
        <p:nvSpPr>
          <p:cNvPr id="20" name="TextBox 19"/>
          <p:cNvSpPr txBox="1"/>
          <p:nvPr/>
        </p:nvSpPr>
        <p:spPr>
          <a:xfrm>
            <a:off x="609600" y="1524000"/>
            <a:ext cx="7888408" cy="337185"/>
          </a:xfrm>
          <a:prstGeom prst="rect">
            <a:avLst/>
          </a:prstGeom>
          <a:noFill/>
        </p:spPr>
        <p:txBody>
          <a:bodyPr wrap="square">
            <a:spAutoFit/>
          </a:bodyPr>
          <a:lstStyle/>
          <a:p>
            <a:pPr marL="0" indent="0">
              <a:buFont typeface="Arial" panose="020B0604020202020204" pitchFamily="34" charset="0"/>
              <a:buNone/>
            </a:pPr>
            <a:endParaRPr lang="en-US" sz="1600" dirty="0">
              <a:latin typeface="+mn-lt"/>
            </a:endParaRPr>
          </a:p>
        </p:txBody>
      </p:sp>
      <p:sp>
        <p:nvSpPr>
          <p:cNvPr id="3" name="Text Box 2"/>
          <p:cNvSpPr txBox="1"/>
          <p:nvPr/>
        </p:nvSpPr>
        <p:spPr>
          <a:xfrm>
            <a:off x="533400" y="941487"/>
            <a:ext cx="8077199"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Transformer Encoders (BERT):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Used for deep textual feature extraction.</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Captures the bidirectional context of words in a tweet better than traditional models.</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Vision Transformers (</a:t>
            </a:r>
            <a:r>
              <a:rPr lang="en-US" b="1" dirty="0" err="1">
                <a:latin typeface="Times New Roman" panose="02020603050405020304" charset="0"/>
                <a:cs typeface="Times New Roman" panose="02020603050405020304" charset="0"/>
              </a:rPr>
              <a:t>ViT</a:t>
            </a:r>
            <a:r>
              <a:rPr lang="en-US" b="1"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Used for high-level visual feature extraction from images.</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Replaces traditional CNNs (like </a:t>
            </a:r>
            <a:r>
              <a:rPr lang="en-US" dirty="0" err="1">
                <a:latin typeface="Times New Roman" panose="02020603050405020304" charset="0"/>
                <a:cs typeface="Times New Roman" panose="02020603050405020304" charset="0"/>
              </a:rPr>
              <a:t>ResNet</a:t>
            </a:r>
            <a:r>
              <a:rPr lang="en-US" dirty="0">
                <a:latin typeface="Times New Roman" panose="02020603050405020304" charset="0"/>
                <a:cs typeface="Times New Roman" panose="02020603050405020304" charset="0"/>
              </a:rPr>
              <a:t>) by using "Self-Attention" to understand global image context.</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Cross-Modal Consistency-Aware Fusion:</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The "brain" of the project that compares text and image features.</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Technique:</a:t>
            </a:r>
            <a:r>
              <a:rPr lang="en-US" dirty="0">
                <a:latin typeface="Times New Roman" panose="02020603050405020304" charset="0"/>
                <a:cs typeface="Times New Roman" panose="02020603050405020304" charset="0"/>
              </a:rPr>
              <a:t> Uses </a:t>
            </a:r>
            <a:r>
              <a:rPr lang="en-US" b="1" dirty="0">
                <a:latin typeface="Times New Roman" panose="02020603050405020304" charset="0"/>
                <a:cs typeface="Times New Roman" panose="02020603050405020304" charset="0"/>
              </a:rPr>
              <a:t>Cosine Similarity</a:t>
            </a:r>
            <a:r>
              <a:rPr lang="en-US" dirty="0">
                <a:latin typeface="Times New Roman" panose="02020603050405020304" charset="0"/>
                <a:cs typeface="Times New Roman" panose="02020603050405020304" charset="0"/>
              </a:rPr>
              <a:t> to mathematically detect if the image matches the text (to catch fake news).</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Transfer Learning:</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Leveraging pre-trained knowledge from large-scale datasets (like </a:t>
            </a:r>
            <a:r>
              <a:rPr lang="en-US" dirty="0" err="1">
                <a:latin typeface="Times New Roman" panose="02020603050405020304" charset="0"/>
                <a:cs typeface="Times New Roman" panose="02020603050405020304" charset="0"/>
              </a:rPr>
              <a:t>CrisisMMD</a:t>
            </a:r>
            <a:r>
              <a:rPr lang="en-US"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Allows the model to work on new disasters even with limited labeled data.</a:t>
            </a:r>
            <a:endParaRPr lang="en-US" dirty="0">
              <a:latin typeface="Times New Roman" panose="02020603050405020304" charset="0"/>
              <a:cs typeface="Times New Roman" panose="02020603050405020304" charset="0"/>
            </a:endParaRPr>
          </a:p>
        </p:txBody>
      </p:sp>
    </p:spTree>
  </p:cSld>
  <p:clrMapOvr>
    <a:masterClrMapping/>
  </p:clrMapOvr>
  <p:transition advClick="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152400"/>
            <a:ext cx="6248400" cy="457194"/>
          </a:xfrm>
        </p:spPr>
        <p:txBody>
          <a:bodyPr/>
          <a:lstStyle/>
          <a:p>
            <a:r>
              <a:rPr lang="en-IN" sz="2400" b="1" dirty="0">
                <a:latin typeface="Times New Roman" panose="02020603050405020304" charset="0"/>
                <a:cs typeface="Times New Roman" panose="02020603050405020304" charset="0"/>
              </a:rPr>
              <a:t>Modules</a:t>
            </a:r>
            <a:endParaRPr lang="en-IN" sz="2400" b="1" dirty="0">
              <a:latin typeface="Times New Roman" panose="02020603050405020304" charset="0"/>
              <a:cs typeface="Times New Roman" panose="02020603050405020304" charset="0"/>
            </a:endParaRPr>
          </a:p>
        </p:txBody>
      </p:sp>
      <p:sp>
        <p:nvSpPr>
          <p:cNvPr id="6" name="Rectangle 2"/>
          <p:cNvSpPr>
            <a:spLocks noGrp="1" noChangeArrowheads="1"/>
          </p:cNvSpPr>
          <p:nvPr>
            <p:ph idx="1"/>
          </p:nvPr>
        </p:nvSpPr>
        <p:spPr bwMode="auto">
          <a:xfrm>
            <a:off x="533400" y="1277642"/>
            <a:ext cx="8077200" cy="430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800" b="1" dirty="0">
                <a:latin typeface="Times New Roman" panose="02020603050405020304" charset="0"/>
                <a:cs typeface="Times New Roman" panose="02020603050405020304" charset="0"/>
              </a:rPr>
              <a:t>Data Collection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Collects real-time disaster-related social media data. Extracts text, images, and metadata, and stores the raw multimodal data for further processing</a:t>
            </a:r>
            <a:r>
              <a:rPr lang="en-IN" sz="1800" dirty="0" smtClean="0">
                <a:latin typeface="Times New Roman" panose="02020603050405020304" charset="0"/>
                <a:cs typeface="Times New Roman" panose="02020603050405020304" charset="0"/>
              </a:rPr>
              <a:t>.</a:t>
            </a:r>
            <a:endParaRPr lang="en-IN" sz="1800" dirty="0" smtClean="0">
              <a:latin typeface="Times New Roman" panose="02020603050405020304" charset="0"/>
              <a:cs typeface="Times New Roman" panose="02020603050405020304" charset="0"/>
            </a:endParaRPr>
          </a:p>
          <a:p>
            <a:pPr marL="0" indent="0">
              <a:buNone/>
            </a:pPr>
            <a:endParaRPr lang="en-IN" sz="1800" dirty="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Data </a:t>
            </a:r>
            <a:r>
              <a:rPr lang="en-IN" sz="1800" b="1" dirty="0" err="1">
                <a:latin typeface="Times New Roman" panose="02020603050405020304" charset="0"/>
                <a:cs typeface="Times New Roman" panose="02020603050405020304" charset="0"/>
              </a:rPr>
              <a:t>Preprocessing</a:t>
            </a:r>
            <a:r>
              <a:rPr lang="en-IN" sz="1800" b="1" dirty="0">
                <a:latin typeface="Times New Roman" panose="02020603050405020304" charset="0"/>
                <a:cs typeface="Times New Roman" panose="02020603050405020304" charset="0"/>
              </a:rPr>
              <a:t>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Processes raw data to make it suitable for model </a:t>
            </a:r>
            <a:r>
              <a:rPr lang="en-IN" sz="1800" dirty="0" smtClean="0">
                <a:latin typeface="Times New Roman" panose="02020603050405020304" charset="0"/>
                <a:cs typeface="Times New Roman" panose="02020603050405020304" charset="0"/>
              </a:rPr>
              <a:t>input.</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Text</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Noise removal, tokenization, normalization, and </a:t>
            </a:r>
            <a:r>
              <a:rPr lang="en-IN" sz="1800" dirty="0" err="1">
                <a:latin typeface="Times New Roman" panose="02020603050405020304" charset="0"/>
                <a:cs typeface="Times New Roman" panose="02020603050405020304" charset="0"/>
              </a:rPr>
              <a:t>stopword</a:t>
            </a:r>
            <a:r>
              <a:rPr lang="en-IN" sz="1800" dirty="0">
                <a:latin typeface="Times New Roman" panose="02020603050405020304" charset="0"/>
                <a:cs typeface="Times New Roman" panose="02020603050405020304" charset="0"/>
              </a:rPr>
              <a:t> removal </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Image</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Resizing, pixel normalization, and format conversion </a:t>
            </a:r>
            <a:endParaRPr lang="en-IN" sz="1800" dirty="0">
              <a:latin typeface="Times New Roman" panose="02020603050405020304" charset="0"/>
              <a:cs typeface="Times New Roman" panose="02020603050405020304" charset="0"/>
            </a:endParaRPr>
          </a:p>
          <a:p>
            <a:pPr marL="0" indent="0">
              <a:buNone/>
            </a:pPr>
            <a:endParaRPr lang="en-IN" sz="1800" dirty="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Feature </a:t>
            </a:r>
            <a:r>
              <a:rPr lang="en-IN" sz="1800" b="1" dirty="0">
                <a:latin typeface="Times New Roman" panose="02020603050405020304" charset="0"/>
                <a:cs typeface="Times New Roman" panose="02020603050405020304" charset="0"/>
              </a:rPr>
              <a:t>Extraction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Extracts meaningful features from both </a:t>
            </a:r>
            <a:r>
              <a:rPr lang="en-IN" sz="1800" dirty="0" smtClean="0">
                <a:latin typeface="Times New Roman" panose="02020603050405020304" charset="0"/>
                <a:cs typeface="Times New Roman" panose="02020603050405020304" charset="0"/>
              </a:rPr>
              <a:t>modalities:</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BERT </a:t>
            </a:r>
            <a:r>
              <a:rPr lang="en-IN" sz="1800" b="1" dirty="0">
                <a:latin typeface="Times New Roman" panose="02020603050405020304" charset="0"/>
                <a:cs typeface="Times New Roman" panose="02020603050405020304" charset="0"/>
              </a:rPr>
              <a:t>Model:</a:t>
            </a:r>
            <a:r>
              <a:rPr lang="en-IN" sz="1800" dirty="0">
                <a:latin typeface="Times New Roman" panose="02020603050405020304" charset="0"/>
                <a:cs typeface="Times New Roman" panose="02020603050405020304" charset="0"/>
              </a:rPr>
              <a:t> Captures contextual textual features </a:t>
            </a:r>
            <a:br>
              <a:rPr lang="en-IN" sz="1800" dirty="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CNN </a:t>
            </a:r>
            <a:r>
              <a:rPr lang="en-IN" sz="1800" b="1" dirty="0">
                <a:latin typeface="Times New Roman" panose="02020603050405020304" charset="0"/>
                <a:cs typeface="Times New Roman" panose="02020603050405020304" charset="0"/>
              </a:rPr>
              <a:t>/ </a:t>
            </a:r>
            <a:r>
              <a:rPr lang="en-IN" sz="1800" b="1" dirty="0" err="1">
                <a:latin typeface="Times New Roman" panose="02020603050405020304" charset="0"/>
                <a:cs typeface="Times New Roman" panose="02020603050405020304" charset="0"/>
              </a:rPr>
              <a:t>ResNet</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Extracts visual features from images </a:t>
            </a:r>
            <a:r>
              <a:rPr lang="en-IN" sz="1800" dirty="0" smtClean="0">
                <a:latin typeface="Times New Roman" panose="02020603050405020304" charset="0"/>
                <a:cs typeface="Times New Roman" panose="02020603050405020304" charset="0"/>
              </a:rPr>
              <a:t>with </a:t>
            </a:r>
            <a:r>
              <a:rPr lang="en-IN" sz="1800" dirty="0">
                <a:latin typeface="Times New Roman" panose="02020603050405020304" charset="0"/>
                <a:cs typeface="Times New Roman" panose="02020603050405020304" charset="0"/>
              </a:rPr>
              <a:t>classes: </a:t>
            </a:r>
            <a:r>
              <a:rPr lang="en-IN" sz="1800" b="1" dirty="0" smtClean="0">
                <a:latin typeface="Times New Roman" panose="02020603050405020304" charset="0"/>
                <a:cs typeface="Times New Roman" panose="02020603050405020304" charset="0"/>
              </a:rPr>
              <a:t>Disaster |Non-disaster.</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81000" y="1371600"/>
            <a:ext cx="8077200" cy="308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IN" sz="1800" b="1" dirty="0" smtClean="0">
                <a:latin typeface="Times New Roman" panose="02020603050405020304" charset="0"/>
                <a:cs typeface="Times New Roman" panose="02020603050405020304" charset="0"/>
              </a:rPr>
              <a:t>Multimodal Fusion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Combines text and image feature vectors using techniques like concatenation or attention mechanisms to form a unified representation.</a:t>
            </a:r>
            <a:endParaRPr lang="en-IN" sz="1800" dirty="0" smtClean="0">
              <a:latin typeface="Times New Roman" panose="02020603050405020304" charset="0"/>
              <a:cs typeface="Times New Roman" panose="02020603050405020304" charset="0"/>
            </a:endParaRPr>
          </a:p>
          <a:p>
            <a:pPr marL="0" indent="0">
              <a:buNone/>
            </a:pPr>
            <a:endParaRPr lang="en-IN" sz="1800" dirty="0" smtClean="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Classification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Uses a Fully Connected Neural Network with </a:t>
            </a:r>
            <a:r>
              <a:rPr lang="en-IN" sz="1800" dirty="0" err="1" smtClean="0">
                <a:latin typeface="Times New Roman" panose="02020603050405020304" charset="0"/>
                <a:cs typeface="Times New Roman" panose="02020603050405020304" charset="0"/>
              </a:rPr>
              <a:t>Softmax</a:t>
            </a:r>
            <a:r>
              <a:rPr lang="en-IN" sz="1800" dirty="0" smtClean="0">
                <a:latin typeface="Times New Roman" panose="02020603050405020304" charset="0"/>
                <a:cs typeface="Times New Roman" panose="02020603050405020304" charset="0"/>
              </a:rPr>
              <a:t> activation to classify the data into sentiment categories.</a:t>
            </a:r>
            <a:endParaRPr lang="en-IN" sz="1800" dirty="0" smtClean="0">
              <a:latin typeface="Times New Roman" panose="02020603050405020304" charset="0"/>
              <a:cs typeface="Times New Roman" panose="02020603050405020304" charset="0"/>
            </a:endParaRPr>
          </a:p>
          <a:p>
            <a:pPr marL="0" indent="0">
              <a:buNone/>
            </a:pPr>
            <a:endParaRPr lang="en-IN" sz="1800" dirty="0" smtClean="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Output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Generates final predictions with classes: </a:t>
            </a:r>
            <a:r>
              <a:rPr lang="en-IN" sz="1800" b="1" dirty="0" smtClean="0">
                <a:latin typeface="Times New Roman" panose="02020603050405020304" charset="0"/>
                <a:cs typeface="Times New Roman" panose="02020603050405020304" charset="0"/>
              </a:rPr>
              <a:t>Disaster |Non-disaster.</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274637"/>
            <a:ext cx="6248400" cy="457194"/>
          </a:xfrm>
        </p:spPr>
        <p:txBody>
          <a:bodyPr/>
          <a:lstStyle/>
          <a:p>
            <a:r>
              <a:rPr lang="en-IN" sz="2400" b="1" dirty="0">
                <a:latin typeface="Times New Roman" panose="02020603050405020304" charset="0"/>
                <a:cs typeface="Times New Roman" panose="02020603050405020304" charset="0"/>
              </a:rPr>
              <a:t>Literature Survey</a:t>
            </a:r>
            <a:endParaRPr lang="en-IN" sz="1800" b="1" dirty="0">
              <a:latin typeface="Times New Roman" panose="02020603050405020304" charset="0"/>
              <a:cs typeface="Times New Roman" panose="02020603050405020304" charset="0"/>
            </a:endParaRPr>
          </a:p>
        </p:txBody>
      </p:sp>
      <p:sp>
        <p:nvSpPr>
          <p:cNvPr id="6" name="Rectangle 2"/>
          <p:cNvSpPr>
            <a:spLocks noGrp="1" noChangeArrowheads="1"/>
          </p:cNvSpPr>
          <p:nvPr>
            <p:ph idx="1"/>
          </p:nvPr>
        </p:nvSpPr>
        <p:spPr bwMode="auto">
          <a:xfrm>
            <a:off x="533400" y="1571654"/>
            <a:ext cx="809741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sz="1800" b="1" dirty="0">
                <a:latin typeface="Times New Roman" panose="02020603050405020304" charset="0"/>
                <a:cs typeface="Times New Roman" panose="02020603050405020304" charset="0"/>
              </a:rPr>
              <a:t>Multimodal Disaster Assessment (Shetty et al., 2024):</a:t>
            </a:r>
            <a:endParaRPr lang="en-US" sz="1800" dirty="0">
              <a:latin typeface="Times New Roman" panose="02020603050405020304" charset="0"/>
              <a:cs typeface="Times New Roman" panose="02020603050405020304" charset="0"/>
            </a:endParaRPr>
          </a:p>
          <a:p>
            <a:pPr lvl="1"/>
            <a:r>
              <a:rPr lang="en-US" sz="1800" b="1" dirty="0">
                <a:latin typeface="Times New Roman" panose="02020603050405020304" charset="0"/>
                <a:cs typeface="Times New Roman" panose="02020603050405020304" charset="0"/>
              </a:rPr>
              <a:t>Finding:</a:t>
            </a:r>
            <a:r>
              <a:rPr lang="en-US" sz="1800" dirty="0">
                <a:latin typeface="Times New Roman" panose="02020603050405020304" charset="0"/>
                <a:cs typeface="Times New Roman" panose="02020603050405020304" charset="0"/>
              </a:rPr>
              <a:t> Proved that combining visual evidence with textual reports significantly improves the accuracy of disaster impact assessment compared to older, text-only models.</a:t>
            </a:r>
            <a:endParaRPr lang="en-US" sz="1800" dirty="0">
              <a:latin typeface="Times New Roman" panose="02020603050405020304" charset="0"/>
              <a:cs typeface="Times New Roman" panose="02020603050405020304" charset="0"/>
            </a:endParaRPr>
          </a:p>
          <a:p>
            <a:pPr lvl="1"/>
            <a:r>
              <a:rPr lang="en-US" sz="1800" b="1" dirty="0">
                <a:latin typeface="Times New Roman" panose="02020603050405020304" charset="0"/>
                <a:cs typeface="Times New Roman" panose="02020603050405020304" charset="0"/>
              </a:rPr>
              <a:t>Limit:</a:t>
            </a:r>
            <a:r>
              <a:rPr lang="en-US" sz="1800" dirty="0">
                <a:latin typeface="Times New Roman" panose="02020603050405020304" charset="0"/>
                <a:cs typeface="Times New Roman" panose="02020603050405020304" charset="0"/>
              </a:rPr>
              <a:t> The study focused on historical data rather than live, streaming environments.</a:t>
            </a:r>
            <a:endParaRPr lang="en-US" sz="1800" dirty="0">
              <a:latin typeface="Times New Roman" panose="02020603050405020304" charset="0"/>
              <a:cs typeface="Times New Roman" panose="02020603050405020304" charset="0"/>
            </a:endParaRPr>
          </a:p>
          <a:p>
            <a:r>
              <a:rPr lang="en-US" sz="1800" b="1" dirty="0">
                <a:latin typeface="Times New Roman" panose="02020603050405020304" charset="0"/>
                <a:cs typeface="Times New Roman" panose="02020603050405020304" charset="0"/>
              </a:rPr>
              <a:t>Transformer-Based Forecasting (</a:t>
            </a:r>
            <a:r>
              <a:rPr lang="en-US" sz="1800" b="1" dirty="0" err="1">
                <a:latin typeface="Times New Roman" panose="02020603050405020304" charset="0"/>
                <a:cs typeface="Times New Roman" panose="02020603050405020304" charset="0"/>
              </a:rPr>
              <a:t>Dhanikonda</a:t>
            </a:r>
            <a:r>
              <a:rPr lang="en-US" sz="1800" b="1" dirty="0">
                <a:latin typeface="Times New Roman" panose="02020603050405020304" charset="0"/>
                <a:cs typeface="Times New Roman" panose="02020603050405020304" charset="0"/>
              </a:rPr>
              <a:t> et al., 2025):</a:t>
            </a:r>
            <a:endParaRPr lang="en-US" sz="1800" dirty="0">
              <a:latin typeface="Times New Roman" panose="02020603050405020304" charset="0"/>
              <a:cs typeface="Times New Roman" panose="02020603050405020304" charset="0"/>
            </a:endParaRPr>
          </a:p>
          <a:p>
            <a:pPr lvl="1"/>
            <a:r>
              <a:rPr lang="en-US" sz="1800" b="1" dirty="0">
                <a:latin typeface="Times New Roman" panose="02020603050405020304" charset="0"/>
                <a:cs typeface="Times New Roman" panose="02020603050405020304" charset="0"/>
              </a:rPr>
              <a:t>Finding:</a:t>
            </a:r>
            <a:r>
              <a:rPr lang="en-US" sz="1800" dirty="0">
                <a:latin typeface="Times New Roman" panose="02020603050405020304" charset="0"/>
                <a:cs typeface="Times New Roman" panose="02020603050405020304" charset="0"/>
              </a:rPr>
              <a:t> Demonstrated that </a:t>
            </a:r>
            <a:r>
              <a:rPr lang="en-US" sz="1800" b="1" dirty="0">
                <a:latin typeface="Times New Roman" panose="02020603050405020304" charset="0"/>
                <a:cs typeface="Times New Roman" panose="02020603050405020304" charset="0"/>
              </a:rPr>
              <a:t>Transformer models</a:t>
            </a:r>
            <a:r>
              <a:rPr lang="en-US" sz="1800" dirty="0">
                <a:latin typeface="Times New Roman" panose="02020603050405020304" charset="0"/>
                <a:cs typeface="Times New Roman" panose="02020603050405020304" charset="0"/>
              </a:rPr>
              <a:t> (like BERT and </a:t>
            </a:r>
            <a:r>
              <a:rPr lang="en-US" sz="1800" dirty="0" err="1">
                <a:latin typeface="Times New Roman" panose="02020603050405020304" charset="0"/>
                <a:cs typeface="Times New Roman" panose="02020603050405020304" charset="0"/>
              </a:rPr>
              <a:t>ViT</a:t>
            </a:r>
            <a:r>
              <a:rPr lang="en-US" sz="1800" dirty="0">
                <a:latin typeface="Times New Roman" panose="02020603050405020304" charset="0"/>
                <a:cs typeface="Times New Roman" panose="02020603050405020304" charset="0"/>
              </a:rPr>
              <a:t>) are superior at capturing long-range dependencies in social media data, making them the "Gold Standard" for disaster forecasting.</a:t>
            </a:r>
            <a:endParaRPr lang="en-US" sz="1800" dirty="0">
              <a:latin typeface="Times New Roman" panose="02020603050405020304" charset="0"/>
              <a:cs typeface="Times New Roman" panose="02020603050405020304" charset="0"/>
            </a:endParaRPr>
          </a:p>
          <a:p>
            <a:pPr lvl="1"/>
            <a:r>
              <a:rPr lang="en-US" sz="1800" b="1" dirty="0">
                <a:latin typeface="Times New Roman" panose="02020603050405020304" charset="0"/>
                <a:cs typeface="Times New Roman" panose="02020603050405020304" charset="0"/>
              </a:rPr>
              <a:t>Limit:</a:t>
            </a:r>
            <a:r>
              <a:rPr lang="en-US" sz="1800" dirty="0">
                <a:latin typeface="Times New Roman" panose="02020603050405020304" charset="0"/>
                <a:cs typeface="Times New Roman" panose="02020603050405020304" charset="0"/>
              </a:rPr>
              <a:t> Noted a high computational requirement that can hinder real-time deployment on standard hardware</a:t>
            </a:r>
            <a:r>
              <a:rPr lang="en-US" sz="1800" dirty="0" smtClean="0">
                <a:latin typeface="Times New Roman" panose="02020603050405020304" charset="0"/>
                <a:cs typeface="Times New Roman" panose="02020603050405020304" charset="0"/>
              </a:rPr>
              <a:t>..</a:t>
            </a:r>
            <a:endParaRPr lang="en-US" sz="1800" dirty="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533400" y="1770965"/>
            <a:ext cx="809741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800" b="1" dirty="0" smtClean="0">
                <a:latin typeface="Times New Roman" panose="02020603050405020304" charset="0"/>
                <a:cs typeface="Times New Roman" panose="02020603050405020304" charset="0"/>
              </a:rPr>
              <a:t>Bidirectional Attention Models (Koshy &amp; </a:t>
            </a:r>
            <a:r>
              <a:rPr lang="en-US" sz="1800" b="1" dirty="0" err="1" smtClean="0">
                <a:latin typeface="Times New Roman" panose="02020603050405020304" charset="0"/>
                <a:cs typeface="Times New Roman" panose="02020603050405020304" charset="0"/>
              </a:rPr>
              <a:t>Elango</a:t>
            </a:r>
            <a:r>
              <a:rPr lang="en-US" sz="1800" b="1" dirty="0" smtClean="0">
                <a:latin typeface="Times New Roman" panose="02020603050405020304" charset="0"/>
                <a:cs typeface="Times New Roman" panose="02020603050405020304" charset="0"/>
              </a:rPr>
              <a:t>, 2022):</a:t>
            </a:r>
            <a:endParaRPr lang="en-US" sz="1800" dirty="0" smtClean="0">
              <a:latin typeface="Times New Roman" panose="02020603050405020304" charset="0"/>
              <a:cs typeface="Times New Roman" panose="02020603050405020304" charset="0"/>
            </a:endParaRPr>
          </a:p>
          <a:p>
            <a:pPr lvl="1"/>
            <a:r>
              <a:rPr lang="en-US" sz="1800" b="1" dirty="0" smtClean="0">
                <a:latin typeface="Times New Roman" panose="02020603050405020304" charset="0"/>
                <a:cs typeface="Times New Roman" panose="02020603050405020304" charset="0"/>
              </a:rPr>
              <a:t>Finding:</a:t>
            </a:r>
            <a:r>
              <a:rPr lang="en-US" sz="1800" dirty="0" smtClean="0">
                <a:latin typeface="Times New Roman" panose="02020603050405020304" charset="0"/>
                <a:cs typeface="Times New Roman" panose="02020603050405020304" charset="0"/>
              </a:rPr>
              <a:t> Introduced "Attention Mechanisms" to help AI ignore social media noise and focus specifically on critical disaster cues in multimodal posts.</a:t>
            </a:r>
            <a:endParaRPr lang="en-US" sz="1800" dirty="0" smtClean="0">
              <a:latin typeface="Times New Roman" panose="02020603050405020304" charset="0"/>
              <a:cs typeface="Times New Roman" panose="02020603050405020304" charset="0"/>
            </a:endParaRPr>
          </a:p>
          <a:p>
            <a:pPr lvl="1"/>
            <a:r>
              <a:rPr lang="en-US" sz="1800" b="1" dirty="0" smtClean="0">
                <a:latin typeface="Times New Roman" panose="02020603050405020304" charset="0"/>
                <a:cs typeface="Times New Roman" panose="02020603050405020304" charset="0"/>
              </a:rPr>
              <a:t>Limit:</a:t>
            </a:r>
            <a:r>
              <a:rPr lang="en-US" sz="1800" dirty="0" smtClean="0">
                <a:latin typeface="Times New Roman" panose="02020603050405020304" charset="0"/>
                <a:cs typeface="Times New Roman" panose="02020603050405020304" charset="0"/>
              </a:rPr>
              <a:t> Did not fully utilize </a:t>
            </a:r>
            <a:r>
              <a:rPr lang="en-US" sz="1800" b="1" dirty="0" smtClean="0">
                <a:latin typeface="Times New Roman" panose="02020603050405020304" charset="0"/>
                <a:cs typeface="Times New Roman" panose="02020603050405020304" charset="0"/>
              </a:rPr>
              <a:t>Transfer Learning</a:t>
            </a:r>
            <a:r>
              <a:rPr lang="en-US" sz="1800" dirty="0" smtClean="0">
                <a:latin typeface="Times New Roman" panose="02020603050405020304" charset="0"/>
                <a:cs typeface="Times New Roman" panose="02020603050405020304" charset="0"/>
              </a:rPr>
              <a:t>, requiring large datasets for every new disaster event.</a:t>
            </a:r>
            <a:endParaRPr lang="en-US" sz="1800" dirty="0" smtClean="0">
              <a:latin typeface="Times New Roman" panose="02020603050405020304" charset="0"/>
              <a:cs typeface="Times New Roman" panose="02020603050405020304" charset="0"/>
            </a:endParaRPr>
          </a:p>
          <a:p>
            <a:r>
              <a:rPr lang="en-US" sz="1800" b="1" dirty="0" smtClean="0">
                <a:latin typeface="Times New Roman" panose="02020603050405020304" charset="0"/>
                <a:cs typeface="Times New Roman" panose="02020603050405020304" charset="0"/>
              </a:rPr>
              <a:t>Deep Learning for Rescue Scheduling (</a:t>
            </a:r>
            <a:r>
              <a:rPr lang="en-US" sz="1800" b="1" dirty="0" err="1" smtClean="0">
                <a:latin typeface="Times New Roman" panose="02020603050405020304" charset="0"/>
                <a:cs typeface="Times New Roman" panose="02020603050405020304" charset="0"/>
              </a:rPr>
              <a:t>Kabir</a:t>
            </a:r>
            <a:r>
              <a:rPr lang="en-US" sz="1800" b="1" dirty="0" smtClean="0">
                <a:latin typeface="Times New Roman" panose="02020603050405020304" charset="0"/>
                <a:cs typeface="Times New Roman" panose="02020603050405020304" charset="0"/>
              </a:rPr>
              <a:t> &amp; </a:t>
            </a:r>
            <a:r>
              <a:rPr lang="en-US" sz="1800" b="1" dirty="0" err="1" smtClean="0">
                <a:latin typeface="Times New Roman" panose="02020603050405020304" charset="0"/>
                <a:cs typeface="Times New Roman" panose="02020603050405020304" charset="0"/>
              </a:rPr>
              <a:t>Madria</a:t>
            </a:r>
            <a:r>
              <a:rPr lang="en-US" sz="1800" b="1" dirty="0" smtClean="0">
                <a:latin typeface="Times New Roman" panose="02020603050405020304" charset="0"/>
                <a:cs typeface="Times New Roman" panose="02020603050405020304" charset="0"/>
              </a:rPr>
              <a:t>, 2019):</a:t>
            </a:r>
            <a:endParaRPr lang="en-US" sz="1800" dirty="0" smtClean="0">
              <a:latin typeface="Times New Roman" panose="02020603050405020304" charset="0"/>
              <a:cs typeface="Times New Roman" panose="02020603050405020304" charset="0"/>
            </a:endParaRPr>
          </a:p>
          <a:p>
            <a:pPr lvl="1"/>
            <a:r>
              <a:rPr lang="en-US" sz="1800" b="1" dirty="0" smtClean="0">
                <a:latin typeface="Times New Roman" panose="02020603050405020304" charset="0"/>
                <a:cs typeface="Times New Roman" panose="02020603050405020304" charset="0"/>
              </a:rPr>
              <a:t>Finding:</a:t>
            </a:r>
            <a:r>
              <a:rPr lang="en-US" sz="1800" dirty="0" smtClean="0">
                <a:latin typeface="Times New Roman" panose="02020603050405020304" charset="0"/>
                <a:cs typeface="Times New Roman" panose="02020603050405020304" charset="0"/>
              </a:rPr>
              <a:t> Early adoption of deep learning to categorize disaster reports to help in rescue scheduling.</a:t>
            </a:r>
            <a:endParaRPr lang="en-US" sz="1800" dirty="0" smtClean="0">
              <a:latin typeface="Times New Roman" panose="02020603050405020304" charset="0"/>
              <a:cs typeface="Times New Roman" panose="02020603050405020304" charset="0"/>
            </a:endParaRPr>
          </a:p>
          <a:p>
            <a:pPr lvl="1"/>
            <a:r>
              <a:rPr lang="en-US" sz="1800" b="1" dirty="0" smtClean="0">
                <a:latin typeface="Times New Roman" panose="02020603050405020304" charset="0"/>
                <a:cs typeface="Times New Roman" panose="02020603050405020304" charset="0"/>
              </a:rPr>
              <a:t>Limit:</a:t>
            </a:r>
            <a:r>
              <a:rPr lang="en-US" sz="1800" dirty="0" smtClean="0">
                <a:latin typeface="Times New Roman" panose="02020603050405020304" charset="0"/>
                <a:cs typeface="Times New Roman" panose="02020603050405020304" charset="0"/>
              </a:rPr>
              <a:t> Used older CNN architectures which are slower and less efficient than modern Vision Transformers.</a:t>
            </a:r>
            <a:endParaRPr lang="en-US" sz="1800"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399" y="76200"/>
            <a:ext cx="6251713" cy="655631"/>
          </a:xfrm>
        </p:spPr>
        <p:txBody>
          <a:bodyPr/>
          <a:lstStyle/>
          <a:p>
            <a:r>
              <a:rPr lang="en-IN" sz="2400" b="1" dirty="0">
                <a:latin typeface="Times New Roman" panose="02020603050405020304" charset="0"/>
                <a:cs typeface="Times New Roman" panose="02020603050405020304" charset="0"/>
              </a:rPr>
              <a:t>CONCLUSION</a:t>
            </a:r>
            <a:endParaRPr lang="en-IN" sz="2400" b="1" dirty="0">
              <a:latin typeface="Times New Roman" panose="02020603050405020304" charset="0"/>
              <a:cs typeface="Times New Roman" panose="02020603050405020304" charset="0"/>
            </a:endParaRPr>
          </a:p>
        </p:txBody>
      </p:sp>
      <p:sp>
        <p:nvSpPr>
          <p:cNvPr id="3" name="Text Box 2"/>
          <p:cNvSpPr txBox="1"/>
          <p:nvPr/>
        </p:nvSpPr>
        <p:spPr>
          <a:xfrm>
            <a:off x="990600" y="1447800"/>
            <a:ext cx="7162800" cy="3416320"/>
          </a:xfrm>
          <a:prstGeom prst="rect">
            <a:avLst/>
          </a:prstGeom>
          <a:noFill/>
        </p:spPr>
        <p:txBody>
          <a:bodyPr wrap="square" rtlCol="0">
            <a:spAutoFit/>
          </a:bodyPr>
          <a:lstStyle/>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Proposed system improves disaster tweet classification</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Combines Transformer + Multimodal Learning</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Supports real-time analysis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Reduces misinformation </a:t>
            </a:r>
            <a:r>
              <a:rPr lang="en-US" altLang="en-US" dirty="0" smtClean="0">
                <a:latin typeface="Times New Roman" panose="02020603050405020304" charset="0"/>
                <a:cs typeface="Times New Roman" panose="02020603050405020304" charset="0"/>
              </a:rPr>
              <a:t>impact</a:t>
            </a:r>
            <a:endParaRPr lang="en-US" altLang="en-US"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Useful for:</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Disaster response teams</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Government </a:t>
            </a:r>
            <a:r>
              <a:rPr lang="en-US" altLang="en-US" dirty="0" smtClean="0">
                <a:latin typeface="Times New Roman" panose="02020603050405020304" charset="0"/>
                <a:cs typeface="Times New Roman" panose="02020603050405020304" charset="0"/>
              </a:rPr>
              <a:t>agencies</a:t>
            </a:r>
            <a:endParaRPr lang="en-US" altLang="en-US" dirty="0" smtClean="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Future scope:</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Integration with live systems</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Expansion to other social platforms</a:t>
            </a: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2200" y="152399"/>
            <a:ext cx="6629400" cy="545955"/>
          </a:xfrm>
        </p:spPr>
        <p:txBody>
          <a:bodyPr/>
          <a:lstStyle/>
          <a:p>
            <a:r>
              <a:rPr lang="en-US" sz="2400" b="1" dirty="0">
                <a:latin typeface="Times New Roman" panose="02020603050405020304" charset="0"/>
                <a:cs typeface="Times New Roman" panose="02020603050405020304" charset="0"/>
              </a:rPr>
              <a:t>REFERENCES </a:t>
            </a:r>
            <a:endParaRPr lang="en-IN" sz="2400" b="1" dirty="0">
              <a:latin typeface="Times New Roman" panose="02020603050405020304" charset="0"/>
              <a:cs typeface="Times New Roman" panose="02020603050405020304" charset="0"/>
            </a:endParaRPr>
          </a:p>
        </p:txBody>
      </p:sp>
      <p:sp>
        <p:nvSpPr>
          <p:cNvPr id="9" name="Rectangle 4"/>
          <p:cNvSpPr>
            <a:spLocks noGrp="1" noChangeArrowheads="1"/>
          </p:cNvSpPr>
          <p:nvPr>
            <p:ph idx="1"/>
          </p:nvPr>
        </p:nvSpPr>
        <p:spPr bwMode="auto">
          <a:xfrm>
            <a:off x="571500" y="751339"/>
            <a:ext cx="8001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800" b="1" dirty="0" err="1">
                <a:latin typeface="Times New Roman" panose="02020603050405020304" charset="0"/>
                <a:cs typeface="Times New Roman" panose="02020603050405020304" charset="0"/>
              </a:rPr>
              <a:t>PyTorch</a:t>
            </a:r>
            <a:r>
              <a:rPr lang="en-IN" sz="1800" b="1" dirty="0">
                <a:latin typeface="Times New Roman" panose="02020603050405020304" charset="0"/>
                <a:cs typeface="Times New Roman" panose="02020603050405020304" charset="0"/>
              </a:rPr>
              <a:t> Documentation.</a:t>
            </a:r>
            <a:r>
              <a:rPr lang="en-IN" sz="1800" dirty="0">
                <a:latin typeface="Times New Roman" panose="02020603050405020304" charset="0"/>
                <a:cs typeface="Times New Roman" panose="02020603050405020304" charset="0"/>
              </a:rPr>
              <a:t> </a:t>
            </a:r>
            <a:r>
              <a:rPr lang="en-IN" sz="1800" dirty="0" err="1">
                <a:latin typeface="Times New Roman" panose="02020603050405020304" charset="0"/>
                <a:cs typeface="Times New Roman" panose="02020603050405020304" charset="0"/>
              </a:rPr>
              <a:t>PyTorch</a:t>
            </a:r>
            <a:r>
              <a:rPr lang="en-IN" sz="1800" dirty="0">
                <a:latin typeface="Times New Roman" panose="02020603050405020304" charset="0"/>
                <a:cs typeface="Times New Roman" panose="02020603050405020304" charset="0"/>
              </a:rPr>
              <a:t>: An open-source machine learning library for Python, used for implementing deep neural networks. Retrieved from </a:t>
            </a:r>
            <a:r>
              <a:rPr lang="en-IN" sz="1800" dirty="0">
                <a:latin typeface="Times New Roman" panose="02020603050405020304" charset="0"/>
                <a:cs typeface="Times New Roman" panose="02020603050405020304" charset="0"/>
                <a:hlinkClick r:id="rId1"/>
              </a:rPr>
              <a:t>https://pytorch.org/docs/</a:t>
            </a:r>
            <a:endParaRPr lang="en-IN" sz="1800" dirty="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BERT </a:t>
            </a:r>
            <a:r>
              <a:rPr lang="en-IN" sz="1800" b="1" dirty="0">
                <a:latin typeface="Times New Roman" panose="02020603050405020304" charset="0"/>
                <a:cs typeface="Times New Roman" panose="02020603050405020304" charset="0"/>
              </a:rPr>
              <a:t>Research (Google AI).</a:t>
            </a:r>
            <a:r>
              <a:rPr lang="en-IN" sz="1800" dirty="0">
                <a:latin typeface="Times New Roman" panose="02020603050405020304" charset="0"/>
                <a:cs typeface="Times New Roman" panose="02020603050405020304" charset="0"/>
              </a:rPr>
              <a:t> BERT: Bidirectional Encoder Representations from Transformers for advanced natural language understanding. Retrieved from </a:t>
            </a:r>
            <a:r>
              <a:rPr lang="en-IN" sz="1800" dirty="0">
                <a:latin typeface="Times New Roman" panose="02020603050405020304" charset="0"/>
                <a:cs typeface="Times New Roman" panose="02020603050405020304" charset="0"/>
                <a:hlinkClick r:id="rId2"/>
              </a:rPr>
              <a:t>https://github.com/google-research/bert</a:t>
            </a:r>
            <a:endParaRPr lang="en-IN" sz="1800" dirty="0">
              <a:latin typeface="Times New Roman" panose="02020603050405020304" charset="0"/>
              <a:cs typeface="Times New Roman" panose="02020603050405020304" charset="0"/>
            </a:endParaRPr>
          </a:p>
          <a:p>
            <a:r>
              <a:rPr lang="en-IN" sz="1800" b="1" dirty="0">
                <a:latin typeface="Times New Roman" panose="02020603050405020304" charset="0"/>
                <a:cs typeface="Times New Roman" panose="02020603050405020304" charset="0"/>
              </a:rPr>
              <a:t>Vision Transformer (</a:t>
            </a:r>
            <a:r>
              <a:rPr lang="en-IN" sz="1800" b="1" dirty="0" err="1">
                <a:latin typeface="Times New Roman" panose="02020603050405020304" charset="0"/>
                <a:cs typeface="Times New Roman" panose="02020603050405020304" charset="0"/>
              </a:rPr>
              <a:t>ViT</a:t>
            </a:r>
            <a:r>
              <a:rPr lang="en-IN" sz="1800" b="1" dirty="0">
                <a:latin typeface="Times New Roman" panose="02020603050405020304" charset="0"/>
                <a:cs typeface="Times New Roman" panose="02020603050405020304" charset="0"/>
              </a:rPr>
              <a:t>) Research.</a:t>
            </a:r>
            <a:r>
              <a:rPr lang="en-IN" sz="1800" dirty="0">
                <a:latin typeface="Times New Roman" panose="02020603050405020304" charset="0"/>
                <a:cs typeface="Times New Roman" panose="02020603050405020304" charset="0"/>
              </a:rPr>
              <a:t> </a:t>
            </a:r>
            <a:r>
              <a:rPr lang="en-IN" sz="1800" dirty="0" err="1">
                <a:latin typeface="Times New Roman" panose="02020603050405020304" charset="0"/>
                <a:cs typeface="Times New Roman" panose="02020603050405020304" charset="0"/>
              </a:rPr>
              <a:t>ViT</a:t>
            </a:r>
            <a:r>
              <a:rPr lang="en-IN" sz="1800" dirty="0">
                <a:latin typeface="Times New Roman" panose="02020603050405020304" charset="0"/>
                <a:cs typeface="Times New Roman" panose="02020603050405020304" charset="0"/>
              </a:rPr>
              <a:t>: An Image is Worth 16x16 Words; Transformers for Image Recognition at Scale. Retrieved from </a:t>
            </a:r>
            <a:r>
              <a:rPr lang="en-IN" sz="1800" dirty="0">
                <a:latin typeface="Times New Roman" panose="02020603050405020304" charset="0"/>
                <a:cs typeface="Times New Roman" panose="02020603050405020304" charset="0"/>
                <a:hlinkClick r:id="rId3"/>
              </a:rPr>
              <a:t>https://github.com/google-research/vision_transformer</a:t>
            </a:r>
            <a:endParaRPr lang="en-IN" sz="1800" dirty="0">
              <a:latin typeface="Times New Roman" panose="02020603050405020304" charset="0"/>
              <a:cs typeface="Times New Roman" panose="02020603050405020304" charset="0"/>
            </a:endParaRPr>
          </a:p>
          <a:p>
            <a:r>
              <a:rPr lang="en-IN" sz="1800" b="1" dirty="0" err="1">
                <a:latin typeface="Times New Roman" panose="02020603050405020304" charset="0"/>
                <a:cs typeface="Times New Roman" panose="02020603050405020304" charset="0"/>
              </a:rPr>
              <a:t>CrisisMMD</a:t>
            </a:r>
            <a:r>
              <a:rPr lang="en-IN" sz="1800" b="1" dirty="0">
                <a:latin typeface="Times New Roman" panose="02020603050405020304" charset="0"/>
                <a:cs typeface="Times New Roman" panose="02020603050405020304" charset="0"/>
              </a:rPr>
              <a:t> Dataset.</a:t>
            </a:r>
            <a:r>
              <a:rPr lang="en-IN" sz="1800" dirty="0">
                <a:latin typeface="Times New Roman" panose="02020603050405020304" charset="0"/>
                <a:cs typeface="Times New Roman" panose="02020603050405020304" charset="0"/>
              </a:rPr>
              <a:t> </a:t>
            </a:r>
            <a:r>
              <a:rPr lang="en-IN" sz="1800" dirty="0" err="1">
                <a:latin typeface="Times New Roman" panose="02020603050405020304" charset="0"/>
                <a:cs typeface="Times New Roman" panose="02020603050405020304" charset="0"/>
              </a:rPr>
              <a:t>CrisisMMD</a:t>
            </a:r>
            <a:r>
              <a:rPr lang="en-IN" sz="1800" dirty="0">
                <a:latin typeface="Times New Roman" panose="02020603050405020304" charset="0"/>
                <a:cs typeface="Times New Roman" panose="02020603050405020304" charset="0"/>
              </a:rPr>
              <a:t>: A large-scale multimodal dataset from natural disasters for training and evaluation. Retrieved from </a:t>
            </a:r>
            <a:r>
              <a:rPr lang="en-IN" sz="1800" dirty="0">
                <a:latin typeface="Times New Roman" panose="02020603050405020304" charset="0"/>
                <a:cs typeface="Times New Roman" panose="02020603050405020304" charset="0"/>
                <a:hlinkClick r:id="rId4"/>
              </a:rPr>
              <a:t>https://crisisnlp.qcri.org/crisismmd</a:t>
            </a:r>
            <a:endParaRPr lang="en-IN" sz="1800" dirty="0">
              <a:latin typeface="Times New Roman" panose="02020603050405020304" charset="0"/>
              <a:cs typeface="Times New Roman" panose="02020603050405020304" charset="0"/>
            </a:endParaRPr>
          </a:p>
          <a:p>
            <a:r>
              <a:rPr lang="en-IN" sz="1800" b="1" dirty="0" err="1" smtClean="0">
                <a:latin typeface="Times New Roman" panose="02020603050405020304" charset="0"/>
                <a:cs typeface="Times New Roman" panose="02020603050405020304" charset="0"/>
              </a:rPr>
              <a:t>NumPy</a:t>
            </a:r>
            <a:r>
              <a:rPr lang="en-IN" sz="1800" b="1" dirty="0" smtClean="0">
                <a:latin typeface="Times New Roman" panose="02020603050405020304" charset="0"/>
                <a:cs typeface="Times New Roman" panose="02020603050405020304" charset="0"/>
              </a:rPr>
              <a:t> </a:t>
            </a:r>
            <a:r>
              <a:rPr lang="en-IN" sz="1800" b="1" dirty="0">
                <a:latin typeface="Times New Roman" panose="02020603050405020304" charset="0"/>
                <a:cs typeface="Times New Roman" panose="02020603050405020304" charset="0"/>
              </a:rPr>
              <a:t>Documentation.</a:t>
            </a:r>
            <a:r>
              <a:rPr lang="en-IN" sz="1800" dirty="0">
                <a:latin typeface="Times New Roman" panose="02020603050405020304" charset="0"/>
                <a:cs typeface="Times New Roman" panose="02020603050405020304" charset="0"/>
              </a:rPr>
              <a:t> </a:t>
            </a:r>
            <a:r>
              <a:rPr lang="en-IN" sz="1800" dirty="0" err="1">
                <a:latin typeface="Times New Roman" panose="02020603050405020304" charset="0"/>
                <a:cs typeface="Times New Roman" panose="02020603050405020304" charset="0"/>
              </a:rPr>
              <a:t>NumPy</a:t>
            </a:r>
            <a:r>
              <a:rPr lang="en-IN" sz="1800" dirty="0">
                <a:latin typeface="Times New Roman" panose="02020603050405020304" charset="0"/>
                <a:cs typeface="Times New Roman" panose="02020603050405020304" charset="0"/>
              </a:rPr>
              <a:t>: The fundamental package for scientific computing and multi-dimensional array processing in Python. Retrieved from </a:t>
            </a:r>
            <a:r>
              <a:rPr lang="en-IN" sz="1800" dirty="0">
                <a:latin typeface="Times New Roman" panose="02020603050405020304" charset="0"/>
                <a:cs typeface="Times New Roman" panose="02020603050405020304" charset="0"/>
                <a:hlinkClick r:id="rId5"/>
              </a:rPr>
              <a:t>https://numpy.org/doc/</a:t>
            </a:r>
            <a:endParaRPr lang="en-IN" sz="1800" dirty="0">
              <a:latin typeface="Times New Roman" panose="02020603050405020304" charset="0"/>
              <a:cs typeface="Times New Roman" panose="02020603050405020304" charset="0"/>
            </a:endParaRPr>
          </a:p>
          <a:p>
            <a:r>
              <a:rPr lang="en-IN" sz="1800" b="1" dirty="0" err="1" smtClean="0">
                <a:latin typeface="Times New Roman" panose="02020603050405020304" charset="0"/>
                <a:cs typeface="Times New Roman" panose="02020603050405020304" charset="0"/>
              </a:rPr>
              <a:t>Matplotlib</a:t>
            </a:r>
            <a:r>
              <a:rPr lang="en-IN" sz="1800" b="1" dirty="0" smtClean="0">
                <a:latin typeface="Times New Roman" panose="02020603050405020304" charset="0"/>
                <a:cs typeface="Times New Roman" panose="02020603050405020304" charset="0"/>
              </a:rPr>
              <a:t> </a:t>
            </a:r>
            <a:r>
              <a:rPr lang="en-IN" sz="1800" b="1" dirty="0">
                <a:latin typeface="Times New Roman" panose="02020603050405020304" charset="0"/>
                <a:cs typeface="Times New Roman" panose="02020603050405020304" charset="0"/>
              </a:rPr>
              <a:t>Library.</a:t>
            </a:r>
            <a:r>
              <a:rPr lang="en-IN" sz="1800" dirty="0">
                <a:latin typeface="Times New Roman" panose="02020603050405020304" charset="0"/>
                <a:cs typeface="Times New Roman" panose="02020603050405020304" charset="0"/>
              </a:rPr>
              <a:t> </a:t>
            </a:r>
            <a:r>
              <a:rPr lang="en-IN" sz="1800" dirty="0" err="1">
                <a:latin typeface="Times New Roman" panose="02020603050405020304" charset="0"/>
                <a:cs typeface="Times New Roman" panose="02020603050405020304" charset="0"/>
              </a:rPr>
              <a:t>Matplotlib</a:t>
            </a:r>
            <a:r>
              <a:rPr lang="en-IN" sz="1800" dirty="0">
                <a:latin typeface="Times New Roman" panose="02020603050405020304" charset="0"/>
                <a:cs typeface="Times New Roman" panose="02020603050405020304" charset="0"/>
              </a:rPr>
              <a:t>: A comprehensive library for creating static, animated, and interactive visualizations in Python. Retrieved from </a:t>
            </a:r>
            <a:r>
              <a:rPr lang="en-IN" sz="1800" dirty="0">
                <a:latin typeface="Times New Roman" panose="02020603050405020304" charset="0"/>
                <a:cs typeface="Times New Roman" panose="02020603050405020304" charset="0"/>
                <a:hlinkClick r:id="rId6"/>
              </a:rPr>
              <a:t>https://matplotlib.org/</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fld>
            <a:endParaRPr lang="en-US" dirty="0">
              <a:solidFill>
                <a:prstClr val="black">
                  <a:tint val="75000"/>
                </a:prstClr>
              </a:solidFill>
            </a:endParaRPr>
          </a:p>
        </p:txBody>
      </p:sp>
      <p:sp>
        <p:nvSpPr>
          <p:cNvPr id="8" name="Rectangle 1"/>
          <p:cNvSpPr>
            <a:spLocks noChangeArrowheads="1"/>
          </p:cNvSpPr>
          <p:nvPr/>
        </p:nvSpPr>
        <p:spPr bwMode="auto">
          <a:xfrm>
            <a:off x="1981200" y="2677180"/>
            <a:ext cx="51054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latin typeface="Algerian" panose="04020705040A02060702"/>
                <a:ea typeface="Times New Roman" panose="02020603050405020304" charset="0"/>
                <a:cs typeface="Arial" panose="020B0604020202020204"/>
              </a:rPr>
              <a:t>QUERIES?</a:t>
            </a:r>
            <a:endParaRPr lang="en-US" sz="6600" b="1" i="0" u="none" strike="noStrike" cap="none" normalizeH="0" baseline="0" dirty="0">
              <a:ln>
                <a:noFill/>
              </a:ln>
              <a:effectLst/>
              <a:latin typeface="Algerian" panose="04020705040A02060702"/>
              <a:ea typeface="Times New Roman" panose="02020603050405020304" charset="0"/>
              <a:cs typeface="Arial" panose="020B0604020202020204"/>
            </a:endParaRPr>
          </a:p>
        </p:txBody>
      </p:sp>
    </p:spTree>
  </p:cSld>
  <p:clrMapOvr>
    <a:masterClrMapping/>
  </p:clrMapOvr>
  <p:transition advClick="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fld>
            <a:endParaRPr lang="en-US" dirty="0">
              <a:solidFill>
                <a:prstClr val="black">
                  <a:tint val="75000"/>
                </a:prstClr>
              </a:solidFill>
            </a:endParaRPr>
          </a:p>
        </p:txBody>
      </p:sp>
      <p:sp>
        <p:nvSpPr>
          <p:cNvPr id="8" name="Rectangle 1"/>
          <p:cNvSpPr>
            <a:spLocks noChangeArrowheads="1"/>
          </p:cNvSpPr>
          <p:nvPr/>
        </p:nvSpPr>
        <p:spPr bwMode="auto">
          <a:xfrm>
            <a:off x="914400" y="2590057"/>
            <a:ext cx="69342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latin typeface="Algerian" panose="04020705040A02060702"/>
                <a:cs typeface="Arial" panose="020B0604020202020204"/>
              </a:rPr>
              <a:t>THANK</a:t>
            </a:r>
            <a:r>
              <a:rPr kumimoji="0" lang="en-US" sz="3200" b="1" i="0" u="none" strike="noStrike" cap="none" normalizeH="0" baseline="0" dirty="0">
                <a:ln>
                  <a:noFill/>
                </a:ln>
                <a:solidFill>
                  <a:srgbClr val="FF0000"/>
                </a:solidFill>
                <a:effectLst/>
                <a:latin typeface="Arial Black" panose="020B0A04020102020204"/>
                <a:ea typeface="Times New Roman" panose="02020603050405020304" charset="0"/>
                <a:cs typeface="Arial" panose="020B0604020202020204"/>
              </a:rPr>
              <a:t> </a:t>
            </a:r>
            <a:r>
              <a:rPr lang="en-US" sz="6600" b="1" dirty="0">
                <a:latin typeface="Algerian" panose="04020705040A02060702"/>
                <a:cs typeface="Arial" panose="020B0604020202020204"/>
              </a:rPr>
              <a:t>YOU</a:t>
            </a:r>
            <a:endParaRPr lang="en-US" sz="6600" b="1" dirty="0">
              <a:latin typeface="Algerian" panose="04020705040A02060702"/>
              <a:cs typeface="Arial" panose="020B0604020202020204"/>
            </a:endParaRPr>
          </a:p>
        </p:txBody>
      </p:sp>
    </p:spTree>
  </p:cSld>
  <p:clrMapOvr>
    <a:masterClrMapping/>
  </p:clrMapOvr>
  <p:transition advClick="0"/>
</p:sld>
</file>

<file path=ppt/tags/tag1.xml><?xml version="1.0" encoding="utf-8"?>
<p:tagLst xmlns:p="http://schemas.openxmlformats.org/presentationml/2006/main">
  <p:tag name="TABLE_ENDDRAG_ORIGIN_RECT" val="696*415"/>
  <p:tag name="TABLE_ENDDRAG_RECT" val="18*72*696*4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10556</Words>
  <Application>WPS Presentation</Application>
  <PresentationFormat>On-screen Show (4:3)</PresentationFormat>
  <Paragraphs>247</Paragraphs>
  <Slides>19</Slides>
  <Notes>4</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19</vt:i4>
      </vt:variant>
    </vt:vector>
  </HeadingPairs>
  <TitlesOfParts>
    <vt:vector size="39" baseType="lpstr">
      <vt:lpstr>Arial</vt:lpstr>
      <vt:lpstr>SimSun</vt:lpstr>
      <vt:lpstr>Wingdings</vt:lpstr>
      <vt:lpstr>Calibri</vt:lpstr>
      <vt:lpstr>Times</vt:lpstr>
      <vt:lpstr>Times New Roman</vt:lpstr>
      <vt:lpstr>Trebuchet MS</vt:lpstr>
      <vt:lpstr>Arial</vt:lpstr>
      <vt:lpstr>Calibri</vt:lpstr>
      <vt:lpstr>Arial Black</vt:lpstr>
      <vt:lpstr>Aharoni</vt:lpstr>
      <vt:lpstr>Segoe Print</vt:lpstr>
      <vt:lpstr>Algerian</vt:lpstr>
      <vt:lpstr>Arial Black</vt:lpstr>
      <vt:lpstr>Microsoft YaHei</vt:lpstr>
      <vt:lpstr>Arial Unicode MS</vt:lpstr>
      <vt:lpstr>Inter</vt:lpstr>
      <vt:lpstr>Office Theme</vt:lpstr>
      <vt:lpstr>2_Custom Design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Modules</vt:lpstr>
      <vt:lpstr>PowerPoint 演示文稿</vt:lpstr>
      <vt:lpstr>Literature Survey</vt:lpstr>
      <vt:lpstr>PowerPoint 演示文稿</vt:lpstr>
      <vt:lpstr>CONCLUSION</vt:lpstr>
      <vt:lpstr>REFERENCES </vt:lpstr>
      <vt:lpstr>PowerPoint 演示文稿</vt:lpstr>
      <vt:lpstr>PowerPoint 演示文稿</vt:lpstr>
    </vt:vector>
  </TitlesOfParts>
  <Company>GPREC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EEE-HOD</dc:creator>
  <cp:lastModifiedBy>22AT1A0561 KETHABOYINA BHUMIKA</cp:lastModifiedBy>
  <cp:revision>1432</cp:revision>
  <dcterms:created xsi:type="dcterms:W3CDTF">2012-09-02T21:14:00Z</dcterms:created>
  <dcterms:modified xsi:type="dcterms:W3CDTF">2026-04-19T16:49:35Z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EA0512F35CDA4852929902B6B80D6364_13</vt:lpwstr>
  </property>
</Properties>
</file>